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CEB40-F010-4887-8F7C-70728F50F5AB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F1D6C-0B50-4053-8254-3A3D59F74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566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Plotty — это сайт для фанфиков и авторских историй. Но мы делаем не просто каталог текстов. Наша идея — дать автору пространство, где можно писать, публиковать, получать читателей и одновременно проверять главу перед публикацией: на ошибки, логику, канон и состояние персонажей.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F1D6C-0B50-4053-8254-3A3D59F74EF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940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Фанфикшн давно стал большой культурой: люди пишут продолжения, альтернативные версии, кроссоверы, истории про любимых персонажей. Проблема в том, что качественная обратная связь появляется поздно: либо после публикации в комментариях, либо от беты, которую еще нужно найти. Plotty закрывает этот промежуток между черновиком и публикацией.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F1D6C-0B50-4053-8254-3A3D59F74EF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434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Когда автор пишет длинную историю, сложно удерживать все сразу: кто что знает, где персонаж был в прошлой главе, что уже произошло, не противоречит ли сцена канону. Обычный редактор проверит орфографию. Обычная платформа даст публикацию. Но автору нужен помощник именно внутри фанфик-сценария.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F1D6C-0B50-4053-8254-3A3D59F74EF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091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Plotty соединяет три слоя. Первый — читательская платформа: каталог, теги, фандомы, главы, комментарии, лайки, полка. Второй — авторская мастерская: черновики, публикация, управление главами. Третий — AI beta-reader: он помогает до публикации и смотрит на текст как внимательный первый читатель.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F1D6C-0B50-4053-8254-3A3D59F74EF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826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Для читателя Plotty выглядит как удобная фанфик-платформа. Можно искать истории по фандомам и тегам, открывать страницу работы, читать главы, оставлять комментарии, ставить лайки и сохранять тексты на свою полку. То есть у проекта есть не только AI-функция, но и полноценная среда для сообщества.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F1D6C-0B50-4053-8254-3A3D59F74EF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796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Для автора Plotty работает как мастерская. Автор создает историю, выбирает фандом и теги, пишет главу, сохраняет черновик, публикует и продолжает работу. Важный момент: AI-инструменты находятся прямо рядом с текстом, а не в отдельном окне. Автору не нужно копировать главу в другой сервис и вручную объяснять контекст.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F1D6C-0B50-4053-8254-3A3D59F74EF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889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AI beta-reader помогает в нескольких направлениях. Орфография подсвечивает спорные места и предлагает исправления. Логика проверяет причинно-следственные связи, мотивацию персонажей и внутренние нестыковки сцены. Канон сверяет главу с выбранным фандомом: правила мира, OOC, лор. Дополнительно автор может сгенерировать иллюстрацию к главе.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F1D6C-0B50-4053-8254-3A3D59F74EF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662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Отдельная сильная идея — справочник состояния мира на момент главы. Читатель может открыть подсказку и вспомнить, кто сейчас где находится, что уже известно, какие предметы или локации важны. Это особенно полезно для длинных историй и фандомов с большим лором.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F1D6C-0B50-4053-8254-3A3D59F74EF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917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Пользователь работает с сайтом. Сайт общается с backend: получает истории, главы, профили, комментарии и баланс кредитов. Backend хранит основные данные в базе. Когда автор запускает AI-проверку, backend отправляет задачу в AI-модуль и возвращает результат обратно в интерфейс: замечания, подсказки, справочник или иллюстрацию.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F1D6C-0B50-4053-8254-3A3D59F74EF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516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Классические фанфик-платформы сильны сообществом, но почти не помогают автору проверить качество главы до публикации. Универсальные AI-чаты умеют редактировать текст, но они не являются фанфик-платформой: там нет каталога, читателей, полки, страниц историй и встроенной связи с фандомом. Plotty находится между ними и соединяет оба мира.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F1D6C-0B50-4053-8254-3A3D59F74EF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309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AI-инструменты требуют вычислений, поэтому в Plotty есть понятная система кредитов. Пользователь видит баланс, стоимость проверки и историю списаний. Это делает модель прозрачной: обычное чтение и публикация остаются платформенными функциями, а более дорогие AI-инструменты оплачиваются отдельно.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F1D6C-0B50-4053-8254-3A3D59F74EF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698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Plotty — это не замена автору и не просто чат для генерации текста. Это платформа, где автор сохраняет творческий контроль, а AI помогает заметить то, что легко пропустить: ошибку в тексте, слабую мотивацию, противоречие прошлым главам или расхождение с каноном. Поэтому наша ценность — не «AI пишет за автора», а «AI помогает автору писать лучше».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F1D6C-0B50-4053-8254-3A3D59F74EF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006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B83BDC-A66D-4BDD-65EA-C98616404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E49370-CDB0-F7D3-4351-D72DBF868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B6C036-25BA-AA3E-27FD-185134FDD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D3E8-FEB0-4752-AA4D-68FD0B3E53E2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896C02-96C4-C287-5BF2-86B8CE3C5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2F5E0B-75CC-8AB6-B867-48A42298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C88D0-9750-4B5C-828F-150FE4F99B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189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C80D0-2ACD-CE42-89DA-C60F5DDBF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07A866-841C-BFA2-DF6F-C02B81B32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F244E2-5349-3919-D1D6-69B729B41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D3E8-FEB0-4752-AA4D-68FD0B3E53E2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834AF3-4DFF-688A-BEE3-90A0CD535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5F6E2E-EF39-F078-3E80-574F9103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C88D0-9750-4B5C-828F-150FE4F99B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68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A9EFF-08C9-C237-F517-5C882A044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D44E42-6D09-A6F0-7E9E-06AD67C1C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21BE73-882B-BD7B-D974-40915551E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D3E8-FEB0-4752-AA4D-68FD0B3E53E2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CB7EED-0F44-F16E-CDF1-7220C553E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51799F-E2C3-8F45-748E-570CA36DE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C88D0-9750-4B5C-828F-150FE4F99B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9877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A7F69-0F5D-621C-3EB1-C751CBE04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A526D4-4480-47FF-9722-265A88685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D89C15-05BC-2110-470E-6BC1DE841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A13280-F574-9B7D-83DD-5D6AB58C1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D3E8-FEB0-4752-AA4D-68FD0B3E53E2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3ED7B5-F556-EFD6-F907-0AB8AE6CD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1D5286-7392-93A4-1DAD-8186B1D19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C88D0-9750-4B5C-828F-150FE4F99B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399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4B77CF-71DF-ABB8-BDAB-FCD7A346E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C78748-C3C0-805B-A7E4-8046D7B66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40DC1C-133C-758E-2D8A-FC3AEC9AF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F33C66A-A0CB-9919-E4F6-1317051EE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84BEA16-FBFC-B263-1B64-1BD4AC5EA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2EC42A0-5587-F064-017B-59A439C2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D3E8-FEB0-4752-AA4D-68FD0B3E53E2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5B75591-F923-1AF3-A2E9-108CBD7A7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06EA12A-0CE0-1CB9-A215-CE4574F47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C88D0-9750-4B5C-828F-150FE4F99B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857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2DADE2-AE9B-8BF5-C3F5-506CFCB6C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711A82A-9401-E669-F522-CA67CB0D2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D3E8-FEB0-4752-AA4D-68FD0B3E53E2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788642-8F36-40EC-37B6-8C04B2F8C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F2CFB4-9A05-C23B-022F-2A9B4D71B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C88D0-9750-4B5C-828F-150FE4F99B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198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C997DDC-5450-B4DA-39C7-5B00E1693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D3E8-FEB0-4752-AA4D-68FD0B3E53E2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9CC99B2-5B5F-64AC-7694-0A77E5ADD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867951-223E-89FE-D55E-2C1BE545C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C88D0-9750-4B5C-828F-150FE4F99B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95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58C45-B88B-767C-1F2D-58E717A2A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9F9A43-2F41-1449-E35C-8293D6303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0D4F6E-3743-B588-F330-9D1F70B85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2F175A-DD91-0133-147C-84DFD684B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D3E8-FEB0-4752-AA4D-68FD0B3E53E2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1BFA94-33FD-6B37-159F-B0DFE681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84049C-A5D5-D377-A87D-7EE054FB6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C88D0-9750-4B5C-828F-150FE4F99B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242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C2FE82-AC92-06EA-8DC9-036D2A54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20EF1ED-1370-56CA-688F-AB1E540E1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A1139CC-5488-DC35-4B74-D38F39EE1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11C5EB-029F-8F68-CB8F-0620F84DF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D3E8-FEB0-4752-AA4D-68FD0B3E53E2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D07A2E-6745-EAE9-F5CC-7D571F05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D512DE-D987-92D0-90B2-72747211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C88D0-9750-4B5C-828F-150FE4F99B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541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1E4B4-970B-4922-19DD-5E268660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3082E3-087F-6E6E-FB2A-C92435857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6E2855-A341-0B5D-03EB-4F10B054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D3E8-FEB0-4752-AA4D-68FD0B3E53E2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B72FA0-0631-391C-FEBB-3DA44FFCB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33F147-B3D5-83E0-3DDB-B11F8C26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C88D0-9750-4B5C-828F-150FE4F99B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4D2EDDF-2B7E-99D9-0833-FCFB7BBCC1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6529C0-9B62-F937-AFB9-ADFE4734A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DCCE7C-CEAA-D681-4257-045E9A706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D3E8-FEB0-4752-AA4D-68FD0B3E53E2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FC686B-8EF1-BD5E-8E29-840E38BE1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59AE3B-6A8A-CAA3-CB7A-3E25C80CA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C88D0-9750-4B5C-828F-150FE4F99B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45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32DBB-575E-8CC9-5F9C-32438BF8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3AC7F0-716A-34EC-D830-6BBB330B6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7CBA72-3808-6FC5-A706-42F7155ABE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49D3E8-FEB0-4752-AA4D-68FD0B3E53E2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8EBA5B-422B-4B64-9F4B-B7C51CBF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95C802-0731-4721-0200-E1AC13539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C88D0-9750-4B5C-828F-150FE4F99B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055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FCD7DAB-C681-973A-0D20-7205947B808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3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9DA950-DF5B-016C-89BA-2598EF4E1AE3}"/>
              </a:ext>
            </a:extLst>
          </p:cNvPr>
          <p:cNvSpPr txBox="1"/>
          <p:nvPr/>
        </p:nvSpPr>
        <p:spPr>
          <a:xfrm>
            <a:off x="10195560" y="6519672"/>
            <a:ext cx="146304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750" b="1">
                <a:solidFill>
                  <a:srgbClr val="D9D2C4"/>
                </a:solidFill>
                <a:latin typeface="Aptos" panose="02110004020202020204"/>
              </a:rPr>
              <a:t>Plotty · 01</a:t>
            </a:r>
            <a:endParaRPr lang="ru-RU" sz="750" b="1">
              <a:solidFill>
                <a:srgbClr val="D9D2C4"/>
              </a:solidFill>
              <a:latin typeface="Aptos" panose="021100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C16FC-31D1-081C-D790-D26DDB57CA34}"/>
              </a:ext>
            </a:extLst>
          </p:cNvPr>
          <p:cNvSpPr txBox="1"/>
          <p:nvPr/>
        </p:nvSpPr>
        <p:spPr>
          <a:xfrm>
            <a:off x="685800" y="1097280"/>
            <a:ext cx="50292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  <a:latin typeface="Aptos" panose="02110004020202020204"/>
              </a:rPr>
              <a:t>Plotty</a:t>
            </a:r>
            <a:endParaRPr lang="ru-RU" sz="4800" b="1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A9FE7-B19E-CEC0-D1D2-3200791C73FF}"/>
              </a:ext>
            </a:extLst>
          </p:cNvPr>
          <p:cNvSpPr txBox="1"/>
          <p:nvPr/>
        </p:nvSpPr>
        <p:spPr>
          <a:xfrm>
            <a:off x="713232" y="1947672"/>
            <a:ext cx="58521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>
                <a:solidFill>
                  <a:srgbClr val="F7F2EA"/>
                </a:solidFill>
                <a:latin typeface="Aptos" panose="02110004020202020204"/>
              </a:rPr>
              <a:t>Фанфики, где автору помогает AI beta-reader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6677F95-321C-A5F0-7F58-AB50987262CF}"/>
              </a:ext>
            </a:extLst>
          </p:cNvPr>
          <p:cNvSpPr/>
          <p:nvPr/>
        </p:nvSpPr>
        <p:spPr>
          <a:xfrm>
            <a:off x="731520" y="2788920"/>
            <a:ext cx="1143000" cy="365760"/>
          </a:xfrm>
          <a:prstGeom prst="roundRect">
            <a:avLst/>
          </a:prstGeom>
          <a:solidFill>
            <a:srgbClr val="2C3B55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672D7-44EA-8C45-F618-E65F90BAAA7A}"/>
              </a:ext>
            </a:extLst>
          </p:cNvPr>
          <p:cNvSpPr txBox="1"/>
          <p:nvPr/>
        </p:nvSpPr>
        <p:spPr>
          <a:xfrm>
            <a:off x="804672" y="2889504"/>
            <a:ext cx="99669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C8953A"/>
                </a:solidFill>
                <a:latin typeface="Aptos" panose="02110004020202020204"/>
              </a:rPr>
              <a:t>каталог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300B309-212B-1074-0369-D84FB3E155A3}"/>
              </a:ext>
            </a:extLst>
          </p:cNvPr>
          <p:cNvSpPr/>
          <p:nvPr/>
        </p:nvSpPr>
        <p:spPr>
          <a:xfrm>
            <a:off x="2029968" y="2788920"/>
            <a:ext cx="2057400" cy="365760"/>
          </a:xfrm>
          <a:prstGeom prst="roundRect">
            <a:avLst/>
          </a:prstGeom>
          <a:solidFill>
            <a:srgbClr val="2C3B55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58A0D6-1CA5-DCA8-E80B-F2920B65D876}"/>
              </a:ext>
            </a:extLst>
          </p:cNvPr>
          <p:cNvSpPr txBox="1"/>
          <p:nvPr/>
        </p:nvSpPr>
        <p:spPr>
          <a:xfrm>
            <a:off x="2103120" y="2889504"/>
            <a:ext cx="191109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C8953A"/>
                </a:solidFill>
                <a:latin typeface="Aptos" panose="02110004020202020204"/>
              </a:rPr>
              <a:t>мастерская автора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380AB2FD-FAA6-C648-9A72-8E184ACAC5E9}"/>
              </a:ext>
            </a:extLst>
          </p:cNvPr>
          <p:cNvSpPr/>
          <p:nvPr/>
        </p:nvSpPr>
        <p:spPr>
          <a:xfrm>
            <a:off x="4261104" y="2788920"/>
            <a:ext cx="1783080" cy="365760"/>
          </a:xfrm>
          <a:prstGeom prst="roundRect">
            <a:avLst/>
          </a:prstGeom>
          <a:solidFill>
            <a:srgbClr val="2C3B55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740961-CC02-D5EA-209D-E31C75E87A70}"/>
              </a:ext>
            </a:extLst>
          </p:cNvPr>
          <p:cNvSpPr txBox="1"/>
          <p:nvPr/>
        </p:nvSpPr>
        <p:spPr>
          <a:xfrm>
            <a:off x="4334256" y="2889504"/>
            <a:ext cx="163677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C8953A"/>
                </a:solidFill>
                <a:latin typeface="Aptos" panose="02110004020202020204"/>
              </a:rPr>
              <a:t>AI beta-reader</a:t>
            </a:r>
            <a:endParaRPr lang="ru-RU" sz="950" b="1">
              <a:solidFill>
                <a:srgbClr val="C8953A"/>
              </a:solidFill>
              <a:latin typeface="Aptos" panose="02110004020202020204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7E66A59-31C9-159C-56B8-1B7A9FCC50DB}"/>
              </a:ext>
            </a:extLst>
          </p:cNvPr>
          <p:cNvSpPr/>
          <p:nvPr/>
        </p:nvSpPr>
        <p:spPr>
          <a:xfrm>
            <a:off x="6812280" y="914400"/>
            <a:ext cx="4389120" cy="4526280"/>
          </a:xfrm>
          <a:prstGeom prst="roundRect">
            <a:avLst/>
          </a:prstGeom>
          <a:solidFill>
            <a:srgbClr val="FFF8ED"/>
          </a:solidFill>
          <a:ln w="9525">
            <a:solidFill>
              <a:srgbClr val="F2DA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AE990F-2D71-C1F8-EB5D-27807609769C}"/>
              </a:ext>
            </a:extLst>
          </p:cNvPr>
          <p:cNvSpPr txBox="1"/>
          <p:nvPr/>
        </p:nvSpPr>
        <p:spPr>
          <a:xfrm>
            <a:off x="7178040" y="1298448"/>
            <a:ext cx="128016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400" b="1">
                <a:solidFill>
                  <a:srgbClr val="8E3F2A"/>
                </a:solidFill>
                <a:latin typeface="Aptos" panose="02110004020202020204"/>
              </a:rPr>
              <a:t>Глава 7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51D7FD7-99B7-3FAC-8D8B-FB0FA2BA9D76}"/>
              </a:ext>
            </a:extLst>
          </p:cNvPr>
          <p:cNvSpPr/>
          <p:nvPr/>
        </p:nvSpPr>
        <p:spPr>
          <a:xfrm>
            <a:off x="7178040" y="1737360"/>
            <a:ext cx="3611880" cy="73152"/>
          </a:xfrm>
          <a:prstGeom prst="roundRect">
            <a:avLst/>
          </a:prstGeom>
          <a:solidFill>
            <a:srgbClr val="D9CCBC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3145CE44-EB9A-B8B8-62C6-E401A4AD6C22}"/>
              </a:ext>
            </a:extLst>
          </p:cNvPr>
          <p:cNvSpPr/>
          <p:nvPr/>
        </p:nvSpPr>
        <p:spPr>
          <a:xfrm>
            <a:off x="7178040" y="2066544"/>
            <a:ext cx="2971800" cy="73152"/>
          </a:xfrm>
          <a:prstGeom prst="roundRect">
            <a:avLst/>
          </a:prstGeom>
          <a:solidFill>
            <a:srgbClr val="D9CCBC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310A01D-DD24-9013-061D-BBA05212E4D6}"/>
              </a:ext>
            </a:extLst>
          </p:cNvPr>
          <p:cNvSpPr/>
          <p:nvPr/>
        </p:nvSpPr>
        <p:spPr>
          <a:xfrm>
            <a:off x="7178040" y="2395728"/>
            <a:ext cx="3429000" cy="73152"/>
          </a:xfrm>
          <a:prstGeom prst="roundRect">
            <a:avLst/>
          </a:prstGeom>
          <a:solidFill>
            <a:srgbClr val="D9CCBC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FC51B15-731A-68F3-EAC9-12A8744CCCE4}"/>
              </a:ext>
            </a:extLst>
          </p:cNvPr>
          <p:cNvSpPr/>
          <p:nvPr/>
        </p:nvSpPr>
        <p:spPr>
          <a:xfrm>
            <a:off x="7315200" y="3108960"/>
            <a:ext cx="338328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3C4648-4505-B1A1-D0D7-522BC281FCEC}"/>
              </a:ext>
            </a:extLst>
          </p:cNvPr>
          <p:cNvSpPr txBox="1"/>
          <p:nvPr/>
        </p:nvSpPr>
        <p:spPr>
          <a:xfrm>
            <a:off x="7543800" y="3401568"/>
            <a:ext cx="164592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6513F"/>
                </a:solidFill>
                <a:latin typeface="Aptos" panose="02110004020202020204"/>
              </a:rPr>
              <a:t>AI beta-reader</a:t>
            </a:r>
            <a:endParaRPr lang="ru-RU" sz="1200" b="1">
              <a:solidFill>
                <a:srgbClr val="36513F"/>
              </a:solidFill>
              <a:latin typeface="Aptos" panose="0211000402020202020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10EC6F-706E-BCB4-A21F-5CE8178A18D7}"/>
              </a:ext>
            </a:extLst>
          </p:cNvPr>
          <p:cNvSpPr txBox="1"/>
          <p:nvPr/>
        </p:nvSpPr>
        <p:spPr>
          <a:xfrm>
            <a:off x="7543800" y="3730752"/>
            <a:ext cx="265176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1F1A16"/>
                </a:solidFill>
                <a:latin typeface="Aptos" panose="02110004020202020204"/>
              </a:rPr>
              <a:t>Проверь мотивацию героя в этой сцене</a:t>
            </a:r>
          </a:p>
        </p:txBody>
      </p:sp>
    </p:spTree>
    <p:extLst>
      <p:ext uri="{BB962C8B-B14F-4D97-AF65-F5344CB8AC3E}">
        <p14:creationId xmlns:p14="http://schemas.microsoft.com/office/powerpoint/2010/main" val="3241658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FAE1211-C94C-FFEE-AD9D-CF398CB045F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07DA9D0-FBFC-FBD3-C139-F67AEFA96BC9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5F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C8142B-C9A9-02B0-F356-8F3337B6F7BA}"/>
              </a:ext>
            </a:extLst>
          </p:cNvPr>
          <p:cNvSpPr txBox="1"/>
          <p:nvPr/>
        </p:nvSpPr>
        <p:spPr>
          <a:xfrm>
            <a:off x="10195560" y="6519672"/>
            <a:ext cx="146304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750" b="1">
                <a:solidFill>
                  <a:srgbClr val="6F665C"/>
                </a:solidFill>
                <a:latin typeface="Aptos" panose="02110004020202020204"/>
              </a:rPr>
              <a:t>Plotty · 02</a:t>
            </a:r>
            <a:endParaRPr lang="ru-RU" sz="750" b="1">
              <a:solidFill>
                <a:srgbClr val="6F665C"/>
              </a:solidFill>
              <a:latin typeface="Aptos" panose="02110004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AA4A5-2524-3660-9D40-338F5AB0D89D}"/>
              </a:ext>
            </a:extLst>
          </p:cNvPr>
          <p:cNvSpPr txBox="1"/>
          <p:nvPr/>
        </p:nvSpPr>
        <p:spPr>
          <a:xfrm>
            <a:off x="566928" y="384048"/>
            <a:ext cx="905256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1F1A16"/>
                </a:solidFill>
                <a:latin typeface="Aptos" panose="02110004020202020204"/>
              </a:rPr>
              <a:t>Почему это актуально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FD3427-816A-5B26-4A43-C6E32412EDC6}"/>
              </a:ext>
            </a:extLst>
          </p:cNvPr>
          <p:cNvSpPr txBox="1"/>
          <p:nvPr/>
        </p:nvSpPr>
        <p:spPr>
          <a:xfrm>
            <a:off x="566928" y="1060704"/>
            <a:ext cx="859536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50">
                <a:solidFill>
                  <a:srgbClr val="6F665C"/>
                </a:solidFill>
                <a:latin typeface="Aptos" panose="02110004020202020204"/>
              </a:rPr>
              <a:t>Фанфикшн — большая культура, а обратная связь автору нужна до публикации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3CE9F21-0E9D-1F38-053D-585CCE3D0A01}"/>
              </a:ext>
            </a:extLst>
          </p:cNvPr>
          <p:cNvSpPr/>
          <p:nvPr/>
        </p:nvSpPr>
        <p:spPr>
          <a:xfrm>
            <a:off x="658368" y="1828800"/>
            <a:ext cx="3246120" cy="2331720"/>
          </a:xfrm>
          <a:prstGeom prst="roundRect">
            <a:avLst/>
          </a:prstGeom>
          <a:solidFill>
            <a:srgbClr val="DCE5EF"/>
          </a:solidFill>
          <a:ln w="9525">
            <a:solidFill>
              <a:srgbClr val="253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B8512-0FC1-63F2-1C3E-FB5DB672CA80}"/>
              </a:ext>
            </a:extLst>
          </p:cNvPr>
          <p:cNvSpPr txBox="1"/>
          <p:nvPr/>
        </p:nvSpPr>
        <p:spPr>
          <a:xfrm>
            <a:off x="914400" y="2157984"/>
            <a:ext cx="26517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400" b="1">
                <a:solidFill>
                  <a:srgbClr val="253349"/>
                </a:solidFill>
                <a:latin typeface="Aptos" panose="02110004020202020204"/>
              </a:rPr>
              <a:t>Миллионы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068C6D-D3E0-EA72-C36D-FB004700A3F0}"/>
              </a:ext>
            </a:extLst>
          </p:cNvPr>
          <p:cNvSpPr txBox="1"/>
          <p:nvPr/>
        </p:nvSpPr>
        <p:spPr>
          <a:xfrm>
            <a:off x="932688" y="2862072"/>
            <a:ext cx="2615184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>
                <a:solidFill>
                  <a:srgbClr val="1F1A16"/>
                </a:solidFill>
                <a:latin typeface="Aptos" panose="02110004020202020204"/>
              </a:rPr>
              <a:t>работ публикуются в фанатских архивах и сообществах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BDB5A4A-391D-76E3-0AE4-C3BC297F666B}"/>
              </a:ext>
            </a:extLst>
          </p:cNvPr>
          <p:cNvSpPr/>
          <p:nvPr/>
        </p:nvSpPr>
        <p:spPr>
          <a:xfrm>
            <a:off x="4407408" y="1828800"/>
            <a:ext cx="3246120" cy="2331720"/>
          </a:xfrm>
          <a:prstGeom prst="roundRect">
            <a:avLst/>
          </a:prstGeom>
          <a:solidFill>
            <a:srgbClr val="F4E6C9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75C89-B735-E2B7-5D1E-A6B0C1C349C0}"/>
              </a:ext>
            </a:extLst>
          </p:cNvPr>
          <p:cNvSpPr txBox="1"/>
          <p:nvPr/>
        </p:nvSpPr>
        <p:spPr>
          <a:xfrm>
            <a:off x="4663440" y="2157984"/>
            <a:ext cx="26517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400" b="1">
                <a:solidFill>
                  <a:srgbClr val="C8953A"/>
                </a:solidFill>
                <a:latin typeface="Aptos" panose="02110004020202020204"/>
              </a:rPr>
              <a:t>Десятки тысяч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57165A-34F9-FCA4-8705-1A9BBB2F7F85}"/>
              </a:ext>
            </a:extLst>
          </p:cNvPr>
          <p:cNvSpPr txBox="1"/>
          <p:nvPr/>
        </p:nvSpPr>
        <p:spPr>
          <a:xfrm>
            <a:off x="4681728" y="2862072"/>
            <a:ext cx="2615184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>
                <a:solidFill>
                  <a:srgbClr val="1F1A16"/>
                </a:solidFill>
                <a:latin typeface="Aptos" panose="02110004020202020204"/>
              </a:rPr>
              <a:t>фандомов живут по своим правилам, канону и ожиданиям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99161C8-FD65-6E5C-AED7-2CEBBE33A068}"/>
              </a:ext>
            </a:extLst>
          </p:cNvPr>
          <p:cNvSpPr/>
          <p:nvPr/>
        </p:nvSpPr>
        <p:spPr>
          <a:xfrm>
            <a:off x="8156448" y="1828800"/>
            <a:ext cx="3246120" cy="2331720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365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F7444A-8196-A996-D9B6-3C78188B6BD4}"/>
              </a:ext>
            </a:extLst>
          </p:cNvPr>
          <p:cNvSpPr txBox="1"/>
          <p:nvPr/>
        </p:nvSpPr>
        <p:spPr>
          <a:xfrm>
            <a:off x="8412480" y="2157984"/>
            <a:ext cx="26517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400" b="1">
                <a:solidFill>
                  <a:srgbClr val="36513F"/>
                </a:solidFill>
                <a:latin typeface="Aptos" panose="02110004020202020204"/>
              </a:rPr>
              <a:t>Поздно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10EA90-AC26-4E64-BD0B-43FAEF84FDC5}"/>
              </a:ext>
            </a:extLst>
          </p:cNvPr>
          <p:cNvSpPr txBox="1"/>
          <p:nvPr/>
        </p:nvSpPr>
        <p:spPr>
          <a:xfrm>
            <a:off x="8430768" y="2862072"/>
            <a:ext cx="2615184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>
                <a:solidFill>
                  <a:srgbClr val="1F1A16"/>
                </a:solidFill>
                <a:latin typeface="Aptos" panose="02110004020202020204"/>
              </a:rPr>
              <a:t>комментарии часто приходят уже после публикации главы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E0D6F53-C0C8-2B2C-5628-E0D71574DE5F}"/>
              </a:ext>
            </a:extLst>
          </p:cNvPr>
          <p:cNvSpPr/>
          <p:nvPr/>
        </p:nvSpPr>
        <p:spPr>
          <a:xfrm>
            <a:off x="1143000" y="4800600"/>
            <a:ext cx="9921240" cy="713232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FA4BC1-01DF-F49D-0672-EA0D46DD68C0}"/>
              </a:ext>
            </a:extLst>
          </p:cNvPr>
          <p:cNvSpPr txBox="1"/>
          <p:nvPr/>
        </p:nvSpPr>
        <p:spPr>
          <a:xfrm>
            <a:off x="1417320" y="5020056"/>
            <a:ext cx="9372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600" b="1">
                <a:solidFill>
                  <a:srgbClr val="1F1A16"/>
                </a:solidFill>
                <a:latin typeface="Aptos" panose="02110004020202020204"/>
              </a:rPr>
              <a:t>Plotty закрывает промежуток между черновиком и первой реакцией аудитории.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3CF929-FAFC-CAAE-5C84-E4B7F25B8BB4}"/>
              </a:ext>
            </a:extLst>
          </p:cNvPr>
          <p:cNvSpPr txBox="1"/>
          <p:nvPr/>
        </p:nvSpPr>
        <p:spPr>
          <a:xfrm>
            <a:off x="658368" y="6236208"/>
            <a:ext cx="45720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780">
                <a:solidFill>
                  <a:srgbClr val="6F665C"/>
                </a:solidFill>
                <a:latin typeface="Aptos" panose="02110004020202020204"/>
              </a:rPr>
              <a:t>Источники: OTW / AO3, arXiv 2506.18706</a:t>
            </a:r>
          </a:p>
        </p:txBody>
      </p:sp>
    </p:spTree>
    <p:extLst>
      <p:ext uri="{BB962C8B-B14F-4D97-AF65-F5344CB8AC3E}">
        <p14:creationId xmlns:p14="http://schemas.microsoft.com/office/powerpoint/2010/main" val="152870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EAE340-62D0-9032-CBB4-087A64252F9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879FDCC-FD82-57B9-1B8A-420BA2A78AAB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5F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99847-94FC-8F6C-A584-1E1766F75345}"/>
              </a:ext>
            </a:extLst>
          </p:cNvPr>
          <p:cNvSpPr txBox="1"/>
          <p:nvPr/>
        </p:nvSpPr>
        <p:spPr>
          <a:xfrm>
            <a:off x="10195560" y="6519672"/>
            <a:ext cx="146304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750" b="1">
                <a:solidFill>
                  <a:srgbClr val="6F665C"/>
                </a:solidFill>
                <a:latin typeface="Aptos" panose="02110004020202020204"/>
              </a:rPr>
              <a:t>Plotty · 03</a:t>
            </a:r>
            <a:endParaRPr lang="ru-RU" sz="750" b="1">
              <a:solidFill>
                <a:srgbClr val="6F665C"/>
              </a:solidFill>
              <a:latin typeface="Aptos" panose="02110004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36A29E-6E58-2306-D92A-828EF3E74A9F}"/>
              </a:ext>
            </a:extLst>
          </p:cNvPr>
          <p:cNvSpPr txBox="1"/>
          <p:nvPr/>
        </p:nvSpPr>
        <p:spPr>
          <a:xfrm>
            <a:off x="566928" y="384048"/>
            <a:ext cx="905256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1F1A16"/>
                </a:solidFill>
                <a:latin typeface="Aptos" panose="02110004020202020204"/>
              </a:rPr>
              <a:t>Главная боль автора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28C61B-7AA2-4F4C-57C5-941413B000A1}"/>
              </a:ext>
            </a:extLst>
          </p:cNvPr>
          <p:cNvSpPr txBox="1"/>
          <p:nvPr/>
        </p:nvSpPr>
        <p:spPr>
          <a:xfrm>
            <a:off x="566928" y="1060704"/>
            <a:ext cx="859536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50">
                <a:solidFill>
                  <a:srgbClr val="6F665C"/>
                </a:solidFill>
                <a:latin typeface="Aptos" panose="02110004020202020204"/>
              </a:rPr>
              <a:t>Автор помнит сюжет, но не всегда видит сбои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AC0B558-AA68-264E-CD85-62B27EA1DE73}"/>
              </a:ext>
            </a:extLst>
          </p:cNvPr>
          <p:cNvSpPr/>
          <p:nvPr/>
        </p:nvSpPr>
        <p:spPr>
          <a:xfrm>
            <a:off x="786384" y="1664208"/>
            <a:ext cx="5074920" cy="342900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CEACD-4CFE-69EC-FD26-D4D0BFC98F9A}"/>
              </a:ext>
            </a:extLst>
          </p:cNvPr>
          <p:cNvSpPr txBox="1"/>
          <p:nvPr/>
        </p:nvSpPr>
        <p:spPr>
          <a:xfrm>
            <a:off x="1097280" y="1965960"/>
            <a:ext cx="429768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b="1">
                <a:solidFill>
                  <a:srgbClr val="1F1A16"/>
                </a:solidFill>
                <a:latin typeface="Aptos" panose="02110004020202020204"/>
              </a:rPr>
              <a:t>В длинной истории сложно удержать всё сразу: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12C958FD-0293-F8FF-CDAB-09E56268775C}"/>
              </a:ext>
            </a:extLst>
          </p:cNvPr>
          <p:cNvSpPr/>
          <p:nvPr/>
        </p:nvSpPr>
        <p:spPr>
          <a:xfrm>
            <a:off x="1078992" y="2569464"/>
            <a:ext cx="457200" cy="457200"/>
          </a:xfrm>
          <a:prstGeom prst="ellipse">
            <a:avLst/>
          </a:prstGeom>
          <a:solidFill>
            <a:srgbClr val="F4E6C9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047AD6-4B92-A173-8F97-DE3F1B2C9B9D}"/>
              </a:ext>
            </a:extLst>
          </p:cNvPr>
          <p:cNvSpPr txBox="1"/>
          <p:nvPr/>
        </p:nvSpPr>
        <p:spPr>
          <a:xfrm>
            <a:off x="1078992" y="2674620"/>
            <a:ext cx="457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150" b="1">
                <a:solidFill>
                  <a:srgbClr val="C8953A"/>
                </a:solidFill>
                <a:latin typeface="Aptos" panose="02110004020202020204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7D8913-5633-D7D0-2F03-2ED11E5EA230}"/>
              </a:ext>
            </a:extLst>
          </p:cNvPr>
          <p:cNvSpPr txBox="1"/>
          <p:nvPr/>
        </p:nvSpPr>
        <p:spPr>
          <a:xfrm>
            <a:off x="1682496" y="2587752"/>
            <a:ext cx="402336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50">
                <a:solidFill>
                  <a:srgbClr val="1F1A16"/>
                </a:solidFill>
                <a:latin typeface="Aptos" panose="02110004020202020204"/>
              </a:rPr>
              <a:t>кто что знает в этой главе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433FDB86-ED84-3F30-E897-516FF7BB1799}"/>
              </a:ext>
            </a:extLst>
          </p:cNvPr>
          <p:cNvSpPr/>
          <p:nvPr/>
        </p:nvSpPr>
        <p:spPr>
          <a:xfrm>
            <a:off x="1078992" y="3182112"/>
            <a:ext cx="457200" cy="457200"/>
          </a:xfrm>
          <a:prstGeom prst="ellipse">
            <a:avLst/>
          </a:prstGeom>
          <a:solidFill>
            <a:srgbClr val="DDE8D7"/>
          </a:solidFill>
          <a:ln w="9525">
            <a:solidFill>
              <a:srgbClr val="365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B0FD45-67FA-E060-129D-1C14CCE30E9C}"/>
              </a:ext>
            </a:extLst>
          </p:cNvPr>
          <p:cNvSpPr txBox="1"/>
          <p:nvPr/>
        </p:nvSpPr>
        <p:spPr>
          <a:xfrm>
            <a:off x="1078992" y="3287268"/>
            <a:ext cx="457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150" b="1">
                <a:solidFill>
                  <a:srgbClr val="36513F"/>
                </a:solidFill>
                <a:latin typeface="Aptos" panose="02110004020202020204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F28849-9A26-FB81-A0D4-65167FA96AEF}"/>
              </a:ext>
            </a:extLst>
          </p:cNvPr>
          <p:cNvSpPr txBox="1"/>
          <p:nvPr/>
        </p:nvSpPr>
        <p:spPr>
          <a:xfrm>
            <a:off x="1682496" y="3200400"/>
            <a:ext cx="402336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50">
                <a:solidFill>
                  <a:srgbClr val="1F1A16"/>
                </a:solidFill>
                <a:latin typeface="Aptos" panose="02110004020202020204"/>
              </a:rPr>
              <a:t>что уже произошло раньше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C56CF49-8AA9-FA05-9E76-3F368002EA01}"/>
              </a:ext>
            </a:extLst>
          </p:cNvPr>
          <p:cNvSpPr/>
          <p:nvPr/>
        </p:nvSpPr>
        <p:spPr>
          <a:xfrm>
            <a:off x="1078992" y="3794760"/>
            <a:ext cx="457200" cy="457200"/>
          </a:xfrm>
          <a:prstGeom prst="ellipse">
            <a:avLst/>
          </a:prstGeom>
          <a:solidFill>
            <a:srgbClr val="F1D4CA"/>
          </a:solidFill>
          <a:ln w="9525">
            <a:solidFill>
              <a:srgbClr val="BC5F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B70BCC-3A4F-32BA-644F-55D8FD04BABD}"/>
              </a:ext>
            </a:extLst>
          </p:cNvPr>
          <p:cNvSpPr txBox="1"/>
          <p:nvPr/>
        </p:nvSpPr>
        <p:spPr>
          <a:xfrm>
            <a:off x="1078992" y="3899916"/>
            <a:ext cx="457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150" b="1">
                <a:solidFill>
                  <a:srgbClr val="BC5F3D"/>
                </a:solidFill>
                <a:latin typeface="Aptos" panose="02110004020202020204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350DD3-1A59-89A1-AEC1-B1E6EFCFFEFF}"/>
              </a:ext>
            </a:extLst>
          </p:cNvPr>
          <p:cNvSpPr txBox="1"/>
          <p:nvPr/>
        </p:nvSpPr>
        <p:spPr>
          <a:xfrm>
            <a:off x="1682496" y="3813048"/>
            <a:ext cx="402336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50">
                <a:solidFill>
                  <a:srgbClr val="1F1A16"/>
                </a:solidFill>
                <a:latin typeface="Aptos" panose="02110004020202020204"/>
              </a:rPr>
              <a:t>не ломается ли канон и мотивация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CBFA0AE-ECD7-B2C7-E156-545375FFA781}"/>
              </a:ext>
            </a:extLst>
          </p:cNvPr>
          <p:cNvSpPr/>
          <p:nvPr/>
        </p:nvSpPr>
        <p:spPr>
          <a:xfrm>
            <a:off x="6446520" y="1847088"/>
            <a:ext cx="4389120" cy="786384"/>
          </a:xfrm>
          <a:prstGeom prst="roundRect">
            <a:avLst/>
          </a:prstGeom>
          <a:solidFill>
            <a:srgbClr val="ECE7DF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EA2F8F8-49EA-30EA-C496-3F7837D1806E}"/>
              </a:ext>
            </a:extLst>
          </p:cNvPr>
          <p:cNvSpPr/>
          <p:nvPr/>
        </p:nvSpPr>
        <p:spPr>
          <a:xfrm>
            <a:off x="6446520" y="2907792"/>
            <a:ext cx="4389120" cy="786384"/>
          </a:xfrm>
          <a:prstGeom prst="roundRect">
            <a:avLst/>
          </a:prstGeom>
          <a:solidFill>
            <a:srgbClr val="F4E6C9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CC85EC8-7523-D194-956F-CEA09F02564F}"/>
              </a:ext>
            </a:extLst>
          </p:cNvPr>
          <p:cNvSpPr/>
          <p:nvPr/>
        </p:nvSpPr>
        <p:spPr>
          <a:xfrm>
            <a:off x="6446520" y="3968496"/>
            <a:ext cx="4389120" cy="786384"/>
          </a:xfrm>
          <a:prstGeom prst="roundRect">
            <a:avLst/>
          </a:prstGeom>
          <a:solidFill>
            <a:srgbClr val="F1D4CA"/>
          </a:solidFill>
          <a:ln w="9525">
            <a:solidFill>
              <a:srgbClr val="BC5F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8471BA-0515-BD04-80B6-C1060F1A6095}"/>
              </a:ext>
            </a:extLst>
          </p:cNvPr>
          <p:cNvSpPr txBox="1"/>
          <p:nvPr/>
        </p:nvSpPr>
        <p:spPr>
          <a:xfrm>
            <a:off x="6711696" y="2112264"/>
            <a:ext cx="128016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00" b="1">
                <a:solidFill>
                  <a:srgbClr val="1F1A16"/>
                </a:solidFill>
                <a:latin typeface="Aptos" panose="02110004020202020204"/>
              </a:rPr>
              <a:t>Черновик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93C54C-AA85-3F44-3833-BDA1DE763904}"/>
              </a:ext>
            </a:extLst>
          </p:cNvPr>
          <p:cNvSpPr txBox="1"/>
          <p:nvPr/>
        </p:nvSpPr>
        <p:spPr>
          <a:xfrm>
            <a:off x="6711696" y="3172968"/>
            <a:ext cx="237744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00" b="1">
                <a:solidFill>
                  <a:srgbClr val="1F1A16"/>
                </a:solidFill>
                <a:latin typeface="Aptos" panose="02110004020202020204"/>
              </a:rPr>
              <a:t>Ошибки замечают поздно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5A8CEC-3CBC-0F88-DBE1-251FDE7551B5}"/>
              </a:ext>
            </a:extLst>
          </p:cNvPr>
          <p:cNvSpPr txBox="1"/>
          <p:nvPr/>
        </p:nvSpPr>
        <p:spPr>
          <a:xfrm>
            <a:off x="6711696" y="4233672"/>
            <a:ext cx="329184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00" b="1">
                <a:solidFill>
                  <a:srgbClr val="1F1A16"/>
                </a:solidFill>
                <a:latin typeface="Aptos" panose="02110004020202020204"/>
              </a:rPr>
              <a:t>Комментарий уже после публикации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2ECBBF0F-42E2-2A13-84B2-F67C27FE60C7}"/>
              </a:ext>
            </a:extLst>
          </p:cNvPr>
          <p:cNvCxnSpPr/>
          <p:nvPr/>
        </p:nvCxnSpPr>
        <p:spPr>
          <a:xfrm>
            <a:off x="8641080" y="2651760"/>
            <a:ext cx="0" cy="228600"/>
          </a:xfrm>
          <a:prstGeom prst="line">
            <a:avLst/>
          </a:prstGeom>
          <a:ln w="20320">
            <a:solidFill>
              <a:srgbClr val="6F665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71700304-406A-6999-963C-7E83D943D068}"/>
              </a:ext>
            </a:extLst>
          </p:cNvPr>
          <p:cNvCxnSpPr/>
          <p:nvPr/>
        </p:nvCxnSpPr>
        <p:spPr>
          <a:xfrm>
            <a:off x="8641080" y="3712464"/>
            <a:ext cx="0" cy="228600"/>
          </a:xfrm>
          <a:prstGeom prst="line">
            <a:avLst/>
          </a:prstGeom>
          <a:ln w="20320">
            <a:solidFill>
              <a:srgbClr val="6F665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682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119062F-268E-F112-927F-48235954E13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58D2DC0-6B54-DA75-C3A5-C9F4C13E5D5C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5F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1FD975-68B4-9BE6-3F7B-978C4AD7FF2F}"/>
              </a:ext>
            </a:extLst>
          </p:cNvPr>
          <p:cNvSpPr txBox="1"/>
          <p:nvPr/>
        </p:nvSpPr>
        <p:spPr>
          <a:xfrm>
            <a:off x="10195560" y="6519672"/>
            <a:ext cx="146304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750" b="1">
                <a:solidFill>
                  <a:srgbClr val="6F665C"/>
                </a:solidFill>
                <a:latin typeface="Aptos" panose="02110004020202020204"/>
              </a:rPr>
              <a:t>Plotty · 04</a:t>
            </a:r>
            <a:endParaRPr lang="ru-RU" sz="750" b="1">
              <a:solidFill>
                <a:srgbClr val="6F665C"/>
              </a:solidFill>
              <a:latin typeface="Aptos" panose="02110004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0C5FE4-FF36-563A-7BBC-5D5755AA5AB8}"/>
              </a:ext>
            </a:extLst>
          </p:cNvPr>
          <p:cNvSpPr txBox="1"/>
          <p:nvPr/>
        </p:nvSpPr>
        <p:spPr>
          <a:xfrm>
            <a:off x="566928" y="384048"/>
            <a:ext cx="905256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1F1A16"/>
                </a:solidFill>
                <a:latin typeface="Aptos" panose="02110004020202020204"/>
              </a:rPr>
              <a:t>Наше решение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3F2D5-2147-AD4B-FC97-2C4B8AD8EB2C}"/>
              </a:ext>
            </a:extLst>
          </p:cNvPr>
          <p:cNvSpPr txBox="1"/>
          <p:nvPr/>
        </p:nvSpPr>
        <p:spPr>
          <a:xfrm>
            <a:off x="566928" y="1060704"/>
            <a:ext cx="859536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50">
                <a:solidFill>
                  <a:srgbClr val="6F665C"/>
                </a:solidFill>
                <a:latin typeface="Aptos" panose="02110004020202020204"/>
              </a:rPr>
              <a:t>Каталог + мастерская автора + AI beta-reader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10AD61D-E5B9-1A1C-23E3-43FDDCBE5C26}"/>
              </a:ext>
            </a:extLst>
          </p:cNvPr>
          <p:cNvSpPr/>
          <p:nvPr/>
        </p:nvSpPr>
        <p:spPr>
          <a:xfrm>
            <a:off x="731520" y="1874520"/>
            <a:ext cx="3246120" cy="3200400"/>
          </a:xfrm>
          <a:prstGeom prst="roundRect">
            <a:avLst/>
          </a:prstGeom>
          <a:solidFill>
            <a:srgbClr val="DCE5EF"/>
          </a:solidFill>
          <a:ln w="9525">
            <a:solidFill>
              <a:srgbClr val="253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3259B0E8-800E-FB0C-29E5-AD1D5E4C5FDB}"/>
              </a:ext>
            </a:extLst>
          </p:cNvPr>
          <p:cNvSpPr/>
          <p:nvPr/>
        </p:nvSpPr>
        <p:spPr>
          <a:xfrm>
            <a:off x="1024128" y="2185416"/>
            <a:ext cx="457200" cy="457200"/>
          </a:xfrm>
          <a:prstGeom prst="ellipse">
            <a:avLst/>
          </a:prstGeom>
          <a:solidFill>
            <a:srgbClr val="FFFDF8"/>
          </a:solidFill>
          <a:ln w="9525">
            <a:solidFill>
              <a:srgbClr val="253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B19E73-1AEE-7670-D228-F17789E18FE0}"/>
              </a:ext>
            </a:extLst>
          </p:cNvPr>
          <p:cNvSpPr txBox="1"/>
          <p:nvPr/>
        </p:nvSpPr>
        <p:spPr>
          <a:xfrm>
            <a:off x="1024128" y="2290572"/>
            <a:ext cx="457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150" b="1">
                <a:solidFill>
                  <a:srgbClr val="253349"/>
                </a:solidFill>
                <a:latin typeface="Aptos" panose="02110004020202020204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BCC3B7-F409-FF2C-5EE2-71CEF3CF672F}"/>
              </a:ext>
            </a:extLst>
          </p:cNvPr>
          <p:cNvSpPr txBox="1"/>
          <p:nvPr/>
        </p:nvSpPr>
        <p:spPr>
          <a:xfrm>
            <a:off x="1033272" y="2834640"/>
            <a:ext cx="265176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700" b="1">
                <a:solidFill>
                  <a:srgbClr val="1F1A16"/>
                </a:solidFill>
                <a:latin typeface="Aptos" panose="02110004020202020204"/>
              </a:rPr>
              <a:t>Читательская платформа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613E67-6F0D-EBC1-40A0-D32D130860A2}"/>
              </a:ext>
            </a:extLst>
          </p:cNvPr>
          <p:cNvSpPr txBox="1"/>
          <p:nvPr/>
        </p:nvSpPr>
        <p:spPr>
          <a:xfrm>
            <a:off x="1042416" y="3602736"/>
            <a:ext cx="2514600" cy="406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20">
                <a:solidFill>
                  <a:srgbClr val="6F665C"/>
                </a:solidFill>
                <a:latin typeface="Aptos" panose="02110004020202020204"/>
              </a:rPr>
              <a:t>каталог, теги, фандомы, главы, комментарии, лайки, полка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69310B0-EE2F-7AD7-63CF-49520C604959}"/>
              </a:ext>
            </a:extLst>
          </p:cNvPr>
          <p:cNvSpPr/>
          <p:nvPr/>
        </p:nvSpPr>
        <p:spPr>
          <a:xfrm>
            <a:off x="4480560" y="1874520"/>
            <a:ext cx="3246120" cy="3200400"/>
          </a:xfrm>
          <a:prstGeom prst="roundRect">
            <a:avLst/>
          </a:prstGeom>
          <a:solidFill>
            <a:srgbClr val="F4E6C9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E8FC7D9F-EBB2-B9DF-88C1-49E39B237ADA}"/>
              </a:ext>
            </a:extLst>
          </p:cNvPr>
          <p:cNvSpPr/>
          <p:nvPr/>
        </p:nvSpPr>
        <p:spPr>
          <a:xfrm>
            <a:off x="4773168" y="2185416"/>
            <a:ext cx="457200" cy="457200"/>
          </a:xfrm>
          <a:prstGeom prst="ellipse">
            <a:avLst/>
          </a:prstGeom>
          <a:solidFill>
            <a:srgbClr val="FFFDF8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3ADAFB-6CD1-4C9C-9389-7E04ABCDCB1B}"/>
              </a:ext>
            </a:extLst>
          </p:cNvPr>
          <p:cNvSpPr txBox="1"/>
          <p:nvPr/>
        </p:nvSpPr>
        <p:spPr>
          <a:xfrm>
            <a:off x="4773168" y="2290572"/>
            <a:ext cx="457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150" b="1">
                <a:solidFill>
                  <a:srgbClr val="C8953A"/>
                </a:solidFill>
                <a:latin typeface="Aptos" panose="02110004020202020204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2F745B-6503-1A11-C369-466226FD443D}"/>
              </a:ext>
            </a:extLst>
          </p:cNvPr>
          <p:cNvSpPr txBox="1"/>
          <p:nvPr/>
        </p:nvSpPr>
        <p:spPr>
          <a:xfrm>
            <a:off x="4782312" y="2834640"/>
            <a:ext cx="265176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700" b="1">
                <a:solidFill>
                  <a:srgbClr val="1F1A16"/>
                </a:solidFill>
                <a:latin typeface="Aptos" panose="02110004020202020204"/>
              </a:rPr>
              <a:t>Мастерская автора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B905D0-5A53-131B-892D-3B01FB78911E}"/>
              </a:ext>
            </a:extLst>
          </p:cNvPr>
          <p:cNvSpPr txBox="1"/>
          <p:nvPr/>
        </p:nvSpPr>
        <p:spPr>
          <a:xfrm>
            <a:off x="4791456" y="3602736"/>
            <a:ext cx="2514600" cy="406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20">
                <a:solidFill>
                  <a:srgbClr val="6F665C"/>
                </a:solidFill>
                <a:latin typeface="Aptos" panose="02110004020202020204"/>
              </a:rPr>
              <a:t>черновики, публикация, управление главами и историей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C518ECC0-5273-B6D4-59D5-FB87DACFED50}"/>
              </a:ext>
            </a:extLst>
          </p:cNvPr>
          <p:cNvSpPr/>
          <p:nvPr/>
        </p:nvSpPr>
        <p:spPr>
          <a:xfrm>
            <a:off x="8229600" y="1874520"/>
            <a:ext cx="3246120" cy="3200400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365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09B6704E-6905-C8A5-81D8-11BFC4EFA6FD}"/>
              </a:ext>
            </a:extLst>
          </p:cNvPr>
          <p:cNvSpPr/>
          <p:nvPr/>
        </p:nvSpPr>
        <p:spPr>
          <a:xfrm>
            <a:off x="8522208" y="2185416"/>
            <a:ext cx="457200" cy="457200"/>
          </a:xfrm>
          <a:prstGeom prst="ellipse">
            <a:avLst/>
          </a:prstGeom>
          <a:solidFill>
            <a:srgbClr val="FFFDF8"/>
          </a:solidFill>
          <a:ln w="9525">
            <a:solidFill>
              <a:srgbClr val="365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7282C6-4D5C-DD17-3683-61BB0A7BF55F}"/>
              </a:ext>
            </a:extLst>
          </p:cNvPr>
          <p:cNvSpPr txBox="1"/>
          <p:nvPr/>
        </p:nvSpPr>
        <p:spPr>
          <a:xfrm>
            <a:off x="8522208" y="2290572"/>
            <a:ext cx="457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150" b="1">
                <a:solidFill>
                  <a:srgbClr val="36513F"/>
                </a:solidFill>
                <a:latin typeface="Aptos" panose="02110004020202020204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50DC61-0776-23DF-47C6-0ACFAAB63134}"/>
              </a:ext>
            </a:extLst>
          </p:cNvPr>
          <p:cNvSpPr txBox="1"/>
          <p:nvPr/>
        </p:nvSpPr>
        <p:spPr>
          <a:xfrm>
            <a:off x="8531352" y="2834640"/>
            <a:ext cx="265176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F1A16"/>
                </a:solidFill>
                <a:latin typeface="Aptos" panose="02110004020202020204"/>
              </a:rPr>
              <a:t>AI beta-reader</a:t>
            </a:r>
            <a:endParaRPr lang="ru-RU" sz="1700" b="1">
              <a:solidFill>
                <a:srgbClr val="1F1A16"/>
              </a:solidFill>
              <a:latin typeface="Aptos" panose="0211000402020202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4742F9-395D-0487-008F-CFD3014125DA}"/>
              </a:ext>
            </a:extLst>
          </p:cNvPr>
          <p:cNvSpPr txBox="1"/>
          <p:nvPr/>
        </p:nvSpPr>
        <p:spPr>
          <a:xfrm>
            <a:off x="8540496" y="3602736"/>
            <a:ext cx="2514600" cy="6093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20">
                <a:solidFill>
                  <a:srgbClr val="6F665C"/>
                </a:solidFill>
                <a:latin typeface="Aptos" panose="02110004020202020204"/>
              </a:rPr>
              <a:t>проверка текста до публикации: ошибки, логика, канон, справочник</a:t>
            </a:r>
          </a:p>
        </p:txBody>
      </p:sp>
    </p:spTree>
    <p:extLst>
      <p:ext uri="{BB962C8B-B14F-4D97-AF65-F5344CB8AC3E}">
        <p14:creationId xmlns:p14="http://schemas.microsoft.com/office/powerpoint/2010/main" val="36098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0F719B-A650-FE22-DAAD-D0B32697E47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56CE8A4-5F5D-D8DB-177D-51EFF5D5D90A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5F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3D0C7D-FB78-866D-06E8-790A6EFE69DC}"/>
              </a:ext>
            </a:extLst>
          </p:cNvPr>
          <p:cNvSpPr txBox="1"/>
          <p:nvPr/>
        </p:nvSpPr>
        <p:spPr>
          <a:xfrm>
            <a:off x="10195560" y="6519672"/>
            <a:ext cx="146304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750" b="1">
                <a:solidFill>
                  <a:srgbClr val="6F665C"/>
                </a:solidFill>
                <a:latin typeface="Aptos" panose="02110004020202020204"/>
              </a:rPr>
              <a:t>Plotty · 05</a:t>
            </a:r>
            <a:endParaRPr lang="ru-RU" sz="750" b="1">
              <a:solidFill>
                <a:srgbClr val="6F665C"/>
              </a:solidFill>
              <a:latin typeface="Aptos" panose="02110004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2508EA-1A2F-F673-ECDC-10D78C89B4AB}"/>
              </a:ext>
            </a:extLst>
          </p:cNvPr>
          <p:cNvSpPr txBox="1"/>
          <p:nvPr/>
        </p:nvSpPr>
        <p:spPr>
          <a:xfrm>
            <a:off x="566928" y="384048"/>
            <a:ext cx="905256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1F1A16"/>
                </a:solidFill>
                <a:latin typeface="Aptos" panose="02110004020202020204"/>
              </a:rPr>
              <a:t>Опыт читателя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80380-6A40-7C18-0F1B-FF992F838FE2}"/>
              </a:ext>
            </a:extLst>
          </p:cNvPr>
          <p:cNvSpPr txBox="1"/>
          <p:nvPr/>
        </p:nvSpPr>
        <p:spPr>
          <a:xfrm>
            <a:off x="566928" y="1060704"/>
            <a:ext cx="859536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50">
                <a:solidFill>
                  <a:srgbClr val="6F665C"/>
                </a:solidFill>
                <a:latin typeface="Aptos" panose="02110004020202020204"/>
              </a:rPr>
              <a:t>От поиска истории до личной полки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F69BA78-A7E0-67FA-67BE-B879032A3BCA}"/>
              </a:ext>
            </a:extLst>
          </p:cNvPr>
          <p:cNvSpPr/>
          <p:nvPr/>
        </p:nvSpPr>
        <p:spPr>
          <a:xfrm>
            <a:off x="658368" y="1965960"/>
            <a:ext cx="2240280" cy="228600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253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74174A-13E2-3429-6E52-8F828DCD7CE2}"/>
              </a:ext>
            </a:extLst>
          </p:cNvPr>
          <p:cNvSpPr txBox="1"/>
          <p:nvPr/>
        </p:nvSpPr>
        <p:spPr>
          <a:xfrm>
            <a:off x="859536" y="2304288"/>
            <a:ext cx="18288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50" b="1">
                <a:solidFill>
                  <a:srgbClr val="1F1A16"/>
                </a:solidFill>
                <a:latin typeface="Aptos" panose="02110004020202020204"/>
              </a:rPr>
              <a:t>Каталог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86FE61-BCE1-616A-D568-E10A6989C45C}"/>
              </a:ext>
            </a:extLst>
          </p:cNvPr>
          <p:cNvSpPr txBox="1"/>
          <p:nvPr/>
        </p:nvSpPr>
        <p:spPr>
          <a:xfrm>
            <a:off x="859536" y="2779776"/>
            <a:ext cx="1783080" cy="1877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20">
                <a:solidFill>
                  <a:srgbClr val="6F665C"/>
                </a:solidFill>
                <a:latin typeface="Aptos" panose="02110004020202020204"/>
              </a:rPr>
              <a:t>поиск, теги, фандомы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6737547-BEC5-81E5-F495-9FF6C95E9F97}"/>
              </a:ext>
            </a:extLst>
          </p:cNvPr>
          <p:cNvSpPr/>
          <p:nvPr/>
        </p:nvSpPr>
        <p:spPr>
          <a:xfrm>
            <a:off x="950976" y="3566160"/>
            <a:ext cx="1600200" cy="365760"/>
          </a:xfrm>
          <a:prstGeom prst="roundRect">
            <a:avLst/>
          </a:prstGeom>
          <a:solidFill>
            <a:srgbClr val="DCE5EF"/>
          </a:solidFill>
          <a:ln w="9525">
            <a:solidFill>
              <a:srgbClr val="253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96F0A3-8549-9AC1-00E1-3CBECBE3E846}"/>
              </a:ext>
            </a:extLst>
          </p:cNvPr>
          <p:cNvSpPr txBox="1"/>
          <p:nvPr/>
        </p:nvSpPr>
        <p:spPr>
          <a:xfrm>
            <a:off x="1024128" y="3666744"/>
            <a:ext cx="145389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253349"/>
                </a:solidFill>
                <a:latin typeface="Aptos" panose="02110004020202020204"/>
              </a:rPr>
              <a:t>читать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EF10630-445F-BC58-986E-8E971E329672}"/>
              </a:ext>
            </a:extLst>
          </p:cNvPr>
          <p:cNvCxnSpPr/>
          <p:nvPr/>
        </p:nvCxnSpPr>
        <p:spPr>
          <a:xfrm>
            <a:off x="2990088" y="3108960"/>
            <a:ext cx="365760" cy="0"/>
          </a:xfrm>
          <a:prstGeom prst="line">
            <a:avLst/>
          </a:prstGeom>
          <a:ln w="20320">
            <a:solidFill>
              <a:srgbClr val="6F665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630A7C8-B6B8-F7FE-B9DE-80BC7D87D360}"/>
              </a:ext>
            </a:extLst>
          </p:cNvPr>
          <p:cNvSpPr/>
          <p:nvPr/>
        </p:nvSpPr>
        <p:spPr>
          <a:xfrm>
            <a:off x="3511296" y="1965960"/>
            <a:ext cx="2240280" cy="228600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7FC14A-E6A2-721C-E96F-FCABD9071EFA}"/>
              </a:ext>
            </a:extLst>
          </p:cNvPr>
          <p:cNvSpPr txBox="1"/>
          <p:nvPr/>
        </p:nvSpPr>
        <p:spPr>
          <a:xfrm>
            <a:off x="3712464" y="2304288"/>
            <a:ext cx="18288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50" b="1">
                <a:solidFill>
                  <a:srgbClr val="1F1A16"/>
                </a:solidFill>
                <a:latin typeface="Aptos" panose="02110004020202020204"/>
              </a:rPr>
              <a:t>Страница истории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C3BDFB-F57D-D056-827E-89E584CA6882}"/>
              </a:ext>
            </a:extLst>
          </p:cNvPr>
          <p:cNvSpPr txBox="1"/>
          <p:nvPr/>
        </p:nvSpPr>
        <p:spPr>
          <a:xfrm>
            <a:off x="3712464" y="2779776"/>
            <a:ext cx="1783080" cy="1877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20">
                <a:solidFill>
                  <a:srgbClr val="6F665C"/>
                </a:solidFill>
                <a:latin typeface="Aptos" panose="02110004020202020204"/>
              </a:rPr>
              <a:t>аннотация, главы, автор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43375F4-ADFA-CECF-6FEC-4C5F3197D850}"/>
              </a:ext>
            </a:extLst>
          </p:cNvPr>
          <p:cNvSpPr/>
          <p:nvPr/>
        </p:nvSpPr>
        <p:spPr>
          <a:xfrm>
            <a:off x="3803904" y="3566160"/>
            <a:ext cx="1600200" cy="365760"/>
          </a:xfrm>
          <a:prstGeom prst="roundRect">
            <a:avLst/>
          </a:prstGeom>
          <a:solidFill>
            <a:srgbClr val="F4E6C9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DDA62E-1535-36A6-32C7-263EA235135D}"/>
              </a:ext>
            </a:extLst>
          </p:cNvPr>
          <p:cNvSpPr txBox="1"/>
          <p:nvPr/>
        </p:nvSpPr>
        <p:spPr>
          <a:xfrm>
            <a:off x="3877056" y="3666744"/>
            <a:ext cx="145389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C8953A"/>
                </a:solidFill>
                <a:latin typeface="Aptos" panose="02110004020202020204"/>
              </a:rPr>
              <a:t>оценить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3183AA6A-0059-1509-CF41-8AC010FD0D70}"/>
              </a:ext>
            </a:extLst>
          </p:cNvPr>
          <p:cNvCxnSpPr/>
          <p:nvPr/>
        </p:nvCxnSpPr>
        <p:spPr>
          <a:xfrm>
            <a:off x="5843016" y="3108960"/>
            <a:ext cx="365760" cy="0"/>
          </a:xfrm>
          <a:prstGeom prst="line">
            <a:avLst/>
          </a:prstGeom>
          <a:ln w="20320">
            <a:solidFill>
              <a:srgbClr val="6F665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00E36A38-37DB-C746-3485-7849D35E8FE8}"/>
              </a:ext>
            </a:extLst>
          </p:cNvPr>
          <p:cNvSpPr/>
          <p:nvPr/>
        </p:nvSpPr>
        <p:spPr>
          <a:xfrm>
            <a:off x="6364224" y="1965960"/>
            <a:ext cx="2240280" cy="228600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BC5F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040186-80BE-1F90-7788-9E13D9463111}"/>
              </a:ext>
            </a:extLst>
          </p:cNvPr>
          <p:cNvSpPr txBox="1"/>
          <p:nvPr/>
        </p:nvSpPr>
        <p:spPr>
          <a:xfrm>
            <a:off x="6565392" y="2304288"/>
            <a:ext cx="18288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50" b="1">
                <a:solidFill>
                  <a:srgbClr val="1F1A16"/>
                </a:solidFill>
                <a:latin typeface="Aptos" panose="02110004020202020204"/>
              </a:rPr>
              <a:t>Читалка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E925D1-FAC1-96AC-E724-49191307C9F2}"/>
              </a:ext>
            </a:extLst>
          </p:cNvPr>
          <p:cNvSpPr txBox="1"/>
          <p:nvPr/>
        </p:nvSpPr>
        <p:spPr>
          <a:xfrm>
            <a:off x="6565392" y="2779776"/>
            <a:ext cx="1783080" cy="3754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20">
                <a:solidFill>
                  <a:srgbClr val="6F665C"/>
                </a:solidFill>
                <a:latin typeface="Aptos" panose="02110004020202020204"/>
              </a:rPr>
              <a:t>текст, прогресс, комментарии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5A652FD-7145-F653-5189-344069093846}"/>
              </a:ext>
            </a:extLst>
          </p:cNvPr>
          <p:cNvSpPr/>
          <p:nvPr/>
        </p:nvSpPr>
        <p:spPr>
          <a:xfrm>
            <a:off x="6656832" y="3566160"/>
            <a:ext cx="1600200" cy="365760"/>
          </a:xfrm>
          <a:prstGeom prst="roundRect">
            <a:avLst/>
          </a:prstGeom>
          <a:solidFill>
            <a:srgbClr val="F1D4CA"/>
          </a:solidFill>
          <a:ln w="9525">
            <a:solidFill>
              <a:srgbClr val="BC5F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36B4ED-7DBD-F447-33D3-87BC34CB1498}"/>
              </a:ext>
            </a:extLst>
          </p:cNvPr>
          <p:cNvSpPr txBox="1"/>
          <p:nvPr/>
        </p:nvSpPr>
        <p:spPr>
          <a:xfrm>
            <a:off x="6729984" y="3666744"/>
            <a:ext cx="145389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BC5F3D"/>
                </a:solidFill>
                <a:latin typeface="Aptos" panose="02110004020202020204"/>
              </a:rPr>
              <a:t>обсудить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13CC2F1E-515C-5291-3FF0-C374E106F303}"/>
              </a:ext>
            </a:extLst>
          </p:cNvPr>
          <p:cNvCxnSpPr/>
          <p:nvPr/>
        </p:nvCxnSpPr>
        <p:spPr>
          <a:xfrm>
            <a:off x="8695944" y="3108960"/>
            <a:ext cx="365760" cy="0"/>
          </a:xfrm>
          <a:prstGeom prst="line">
            <a:avLst/>
          </a:prstGeom>
          <a:ln w="20320">
            <a:solidFill>
              <a:srgbClr val="6F665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2B55182C-F966-4A69-D2FC-ED63C4DA6F80}"/>
              </a:ext>
            </a:extLst>
          </p:cNvPr>
          <p:cNvSpPr/>
          <p:nvPr/>
        </p:nvSpPr>
        <p:spPr>
          <a:xfrm>
            <a:off x="9217152" y="1965960"/>
            <a:ext cx="2240280" cy="228600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365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D62463-5344-1A7D-E880-BEB703C980AE}"/>
              </a:ext>
            </a:extLst>
          </p:cNvPr>
          <p:cNvSpPr txBox="1"/>
          <p:nvPr/>
        </p:nvSpPr>
        <p:spPr>
          <a:xfrm>
            <a:off x="9418320" y="2304288"/>
            <a:ext cx="18288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50" b="1">
                <a:solidFill>
                  <a:srgbClr val="1F1A16"/>
                </a:solidFill>
                <a:latin typeface="Aptos" panose="02110004020202020204"/>
              </a:rPr>
              <a:t>Моя полка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916E74-7527-1560-580A-625707962C10}"/>
              </a:ext>
            </a:extLst>
          </p:cNvPr>
          <p:cNvSpPr txBox="1"/>
          <p:nvPr/>
        </p:nvSpPr>
        <p:spPr>
          <a:xfrm>
            <a:off x="9418320" y="2779776"/>
            <a:ext cx="1783080" cy="1877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20">
                <a:solidFill>
                  <a:srgbClr val="6F665C"/>
                </a:solidFill>
                <a:latin typeface="Aptos" panose="02110004020202020204"/>
              </a:rPr>
              <a:t>статусы и подборки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2282E10F-1552-884D-61BC-CE0B980D9C62}"/>
              </a:ext>
            </a:extLst>
          </p:cNvPr>
          <p:cNvSpPr/>
          <p:nvPr/>
        </p:nvSpPr>
        <p:spPr>
          <a:xfrm>
            <a:off x="9509760" y="3566160"/>
            <a:ext cx="1600200" cy="365760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365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7F010F-F78B-ADD2-923E-64E4810F49AF}"/>
              </a:ext>
            </a:extLst>
          </p:cNvPr>
          <p:cNvSpPr txBox="1"/>
          <p:nvPr/>
        </p:nvSpPr>
        <p:spPr>
          <a:xfrm>
            <a:off x="9582912" y="3666744"/>
            <a:ext cx="145389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36513F"/>
                </a:solidFill>
                <a:latin typeface="Aptos" panose="02110004020202020204"/>
              </a:rPr>
              <a:t>вернуться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7629C6-DC1C-83AA-2E4E-E7A5A41211B4}"/>
              </a:ext>
            </a:extLst>
          </p:cNvPr>
          <p:cNvSpPr txBox="1"/>
          <p:nvPr/>
        </p:nvSpPr>
        <p:spPr>
          <a:xfrm>
            <a:off x="1234440" y="4892040"/>
            <a:ext cx="978408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700" b="1">
                <a:solidFill>
                  <a:srgbClr val="1F1A16"/>
                </a:solidFill>
                <a:latin typeface="Aptos" panose="02110004020202020204"/>
              </a:rPr>
              <a:t>Plotty — не только AI-функция, а полноценная среда для авторов и читателей.</a:t>
            </a:r>
          </a:p>
        </p:txBody>
      </p:sp>
    </p:spTree>
    <p:extLst>
      <p:ext uri="{BB962C8B-B14F-4D97-AF65-F5344CB8AC3E}">
        <p14:creationId xmlns:p14="http://schemas.microsoft.com/office/powerpoint/2010/main" val="2672045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6EF79D2-8ADC-1303-DD1D-213590E1907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2CAD30E-1EC0-DADD-67E4-95DFCC0FA146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5F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3E673F-E7E8-738D-E1D2-19652D2E6686}"/>
              </a:ext>
            </a:extLst>
          </p:cNvPr>
          <p:cNvSpPr txBox="1"/>
          <p:nvPr/>
        </p:nvSpPr>
        <p:spPr>
          <a:xfrm>
            <a:off x="10195560" y="6519672"/>
            <a:ext cx="146304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750" b="1">
                <a:solidFill>
                  <a:srgbClr val="6F665C"/>
                </a:solidFill>
                <a:latin typeface="Aptos" panose="02110004020202020204"/>
              </a:rPr>
              <a:t>Plotty · 06</a:t>
            </a:r>
            <a:endParaRPr lang="ru-RU" sz="750" b="1">
              <a:solidFill>
                <a:srgbClr val="6F665C"/>
              </a:solidFill>
              <a:latin typeface="Aptos" panose="02110004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BF1F2-66BA-3C24-9A20-57608B33A2FE}"/>
              </a:ext>
            </a:extLst>
          </p:cNvPr>
          <p:cNvSpPr txBox="1"/>
          <p:nvPr/>
        </p:nvSpPr>
        <p:spPr>
          <a:xfrm>
            <a:off x="566928" y="384048"/>
            <a:ext cx="905256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1F1A16"/>
                </a:solidFill>
                <a:latin typeface="Aptos" panose="02110004020202020204"/>
              </a:rPr>
              <a:t>Опыт автора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3CCE76-D397-6D7F-E63E-58470F228A07}"/>
              </a:ext>
            </a:extLst>
          </p:cNvPr>
          <p:cNvSpPr txBox="1"/>
          <p:nvPr/>
        </p:nvSpPr>
        <p:spPr>
          <a:xfrm>
            <a:off x="566928" y="1060704"/>
            <a:ext cx="859536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50">
                <a:solidFill>
                  <a:srgbClr val="6F665C"/>
                </a:solidFill>
                <a:latin typeface="Aptos" panose="02110004020202020204"/>
              </a:rPr>
              <a:t>AI-инструменты находятся рядом с текстом, а не в отдельном окне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0939A34-C1C8-DFD8-A667-7E68C6E80AE2}"/>
              </a:ext>
            </a:extLst>
          </p:cNvPr>
          <p:cNvSpPr/>
          <p:nvPr/>
        </p:nvSpPr>
        <p:spPr>
          <a:xfrm>
            <a:off x="658368" y="1965960"/>
            <a:ext cx="1783080" cy="10515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FA0CDA-C204-2C23-0CFA-0A841C3A3F3B}"/>
              </a:ext>
            </a:extLst>
          </p:cNvPr>
          <p:cNvSpPr txBox="1"/>
          <p:nvPr/>
        </p:nvSpPr>
        <p:spPr>
          <a:xfrm>
            <a:off x="786384" y="2121408"/>
            <a:ext cx="27432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 b="1">
                <a:solidFill>
                  <a:srgbClr val="6F665C"/>
                </a:solidFill>
                <a:latin typeface="Aptos" panose="02110004020202020204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50F79-3598-7B80-56F9-EE0488D05EE8}"/>
              </a:ext>
            </a:extLst>
          </p:cNvPr>
          <p:cNvSpPr txBox="1"/>
          <p:nvPr/>
        </p:nvSpPr>
        <p:spPr>
          <a:xfrm>
            <a:off x="1042416" y="2258568"/>
            <a:ext cx="1143000" cy="3939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280" b="1">
                <a:solidFill>
                  <a:srgbClr val="1F1A16"/>
                </a:solidFill>
                <a:latin typeface="Aptos" panose="02110004020202020204"/>
              </a:rPr>
              <a:t>Создать историю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D69917E-1435-430D-45A9-C7DD23279684}"/>
              </a:ext>
            </a:extLst>
          </p:cNvPr>
          <p:cNvCxnSpPr/>
          <p:nvPr/>
        </p:nvCxnSpPr>
        <p:spPr>
          <a:xfrm>
            <a:off x="2487168" y="2487168"/>
            <a:ext cx="292608" cy="0"/>
          </a:xfrm>
          <a:prstGeom prst="line">
            <a:avLst/>
          </a:prstGeom>
          <a:ln w="20320">
            <a:solidFill>
              <a:srgbClr val="6F665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6E75794-89BA-D126-8E2C-9A6E71E692A1}"/>
              </a:ext>
            </a:extLst>
          </p:cNvPr>
          <p:cNvSpPr/>
          <p:nvPr/>
        </p:nvSpPr>
        <p:spPr>
          <a:xfrm>
            <a:off x="2880360" y="1965960"/>
            <a:ext cx="1783080" cy="10515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E21CE2-F36D-8F31-0909-48C6DB018181}"/>
              </a:ext>
            </a:extLst>
          </p:cNvPr>
          <p:cNvSpPr txBox="1"/>
          <p:nvPr/>
        </p:nvSpPr>
        <p:spPr>
          <a:xfrm>
            <a:off x="3008376" y="2121408"/>
            <a:ext cx="27432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 b="1">
                <a:solidFill>
                  <a:srgbClr val="6F665C"/>
                </a:solidFill>
                <a:latin typeface="Aptos" panose="02110004020202020204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0875FF-8C29-1766-B345-6FED5B990501}"/>
              </a:ext>
            </a:extLst>
          </p:cNvPr>
          <p:cNvSpPr txBox="1"/>
          <p:nvPr/>
        </p:nvSpPr>
        <p:spPr>
          <a:xfrm>
            <a:off x="3264408" y="2258568"/>
            <a:ext cx="1143000" cy="3939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280" b="1">
                <a:solidFill>
                  <a:srgbClr val="1F1A16"/>
                </a:solidFill>
                <a:latin typeface="Aptos" panose="02110004020202020204"/>
              </a:rPr>
              <a:t>Выбрать фандом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09D36DA6-12AF-7BE4-98E8-6D6CCF2BDFB7}"/>
              </a:ext>
            </a:extLst>
          </p:cNvPr>
          <p:cNvCxnSpPr/>
          <p:nvPr/>
        </p:nvCxnSpPr>
        <p:spPr>
          <a:xfrm>
            <a:off x="4709160" y="2487168"/>
            <a:ext cx="292608" cy="0"/>
          </a:xfrm>
          <a:prstGeom prst="line">
            <a:avLst/>
          </a:prstGeom>
          <a:ln w="20320">
            <a:solidFill>
              <a:srgbClr val="6F665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C00F7A6-E918-D3F6-FDF7-EEC6306AC49F}"/>
              </a:ext>
            </a:extLst>
          </p:cNvPr>
          <p:cNvSpPr/>
          <p:nvPr/>
        </p:nvSpPr>
        <p:spPr>
          <a:xfrm>
            <a:off x="5102352" y="1965960"/>
            <a:ext cx="1783080" cy="10515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57121A-7E91-C618-86F1-5E57A3FBD7EF}"/>
              </a:ext>
            </a:extLst>
          </p:cNvPr>
          <p:cNvSpPr txBox="1"/>
          <p:nvPr/>
        </p:nvSpPr>
        <p:spPr>
          <a:xfrm>
            <a:off x="5230368" y="2121408"/>
            <a:ext cx="27432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 b="1">
                <a:solidFill>
                  <a:srgbClr val="6F665C"/>
                </a:solidFill>
                <a:latin typeface="Aptos" panose="02110004020202020204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E03049-3119-8B57-6439-E1EFE29F2C59}"/>
              </a:ext>
            </a:extLst>
          </p:cNvPr>
          <p:cNvSpPr txBox="1"/>
          <p:nvPr/>
        </p:nvSpPr>
        <p:spPr>
          <a:xfrm>
            <a:off x="5486400" y="2258568"/>
            <a:ext cx="11430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280" b="1">
                <a:solidFill>
                  <a:srgbClr val="1F1A16"/>
                </a:solidFill>
                <a:latin typeface="Aptos" panose="02110004020202020204"/>
              </a:rPr>
              <a:t>Написать главу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2DD00FED-481D-7260-DDFB-39C189069BD5}"/>
              </a:ext>
            </a:extLst>
          </p:cNvPr>
          <p:cNvCxnSpPr/>
          <p:nvPr/>
        </p:nvCxnSpPr>
        <p:spPr>
          <a:xfrm>
            <a:off x="6931152" y="2487168"/>
            <a:ext cx="292608" cy="0"/>
          </a:xfrm>
          <a:prstGeom prst="line">
            <a:avLst/>
          </a:prstGeom>
          <a:ln w="20320">
            <a:solidFill>
              <a:srgbClr val="6F665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7A642F06-590E-2F1A-820F-BFD4B2EEE3E5}"/>
              </a:ext>
            </a:extLst>
          </p:cNvPr>
          <p:cNvSpPr/>
          <p:nvPr/>
        </p:nvSpPr>
        <p:spPr>
          <a:xfrm>
            <a:off x="7324344" y="1965960"/>
            <a:ext cx="1783080" cy="1051560"/>
          </a:xfrm>
          <a:prstGeom prst="roundRect">
            <a:avLst/>
          </a:prstGeom>
          <a:solidFill>
            <a:srgbClr val="F1D4CA"/>
          </a:solidFill>
          <a:ln w="9525">
            <a:solidFill>
              <a:srgbClr val="BC5F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1A175B-331D-C7DB-2DC1-EB2F2388E179}"/>
              </a:ext>
            </a:extLst>
          </p:cNvPr>
          <p:cNvSpPr txBox="1"/>
          <p:nvPr/>
        </p:nvSpPr>
        <p:spPr>
          <a:xfrm>
            <a:off x="7452360" y="2121408"/>
            <a:ext cx="27432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 b="1">
                <a:solidFill>
                  <a:srgbClr val="8E3F2A"/>
                </a:solidFill>
                <a:latin typeface="Aptos" panose="02110004020202020204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EC9D96-3F23-FE05-963F-4B3398BBFE46}"/>
              </a:ext>
            </a:extLst>
          </p:cNvPr>
          <p:cNvSpPr txBox="1"/>
          <p:nvPr/>
        </p:nvSpPr>
        <p:spPr>
          <a:xfrm>
            <a:off x="7708392" y="2258568"/>
            <a:ext cx="11430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280" b="1">
                <a:solidFill>
                  <a:srgbClr val="1F1A16"/>
                </a:solidFill>
                <a:latin typeface="Aptos" panose="02110004020202020204"/>
              </a:rPr>
              <a:t>Проверить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4A3FB95D-04E2-3BB2-673F-6F00E09E9F54}"/>
              </a:ext>
            </a:extLst>
          </p:cNvPr>
          <p:cNvCxnSpPr/>
          <p:nvPr/>
        </p:nvCxnSpPr>
        <p:spPr>
          <a:xfrm>
            <a:off x="9153144" y="2487168"/>
            <a:ext cx="292608" cy="0"/>
          </a:xfrm>
          <a:prstGeom prst="line">
            <a:avLst/>
          </a:prstGeom>
          <a:ln w="20320">
            <a:solidFill>
              <a:srgbClr val="6F665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FC441D6F-B6DA-C3B8-65AD-B95A39D27017}"/>
              </a:ext>
            </a:extLst>
          </p:cNvPr>
          <p:cNvSpPr/>
          <p:nvPr/>
        </p:nvSpPr>
        <p:spPr>
          <a:xfrm>
            <a:off x="9546336" y="1965960"/>
            <a:ext cx="1783079" cy="10515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BDAAA7-4CF7-C688-82C5-81CC4A1656DE}"/>
              </a:ext>
            </a:extLst>
          </p:cNvPr>
          <p:cNvSpPr txBox="1"/>
          <p:nvPr/>
        </p:nvSpPr>
        <p:spPr>
          <a:xfrm>
            <a:off x="9674352" y="2121408"/>
            <a:ext cx="27432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 b="1">
                <a:solidFill>
                  <a:srgbClr val="6F665C"/>
                </a:solidFill>
                <a:latin typeface="Aptos" panose="02110004020202020204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3BA5CB-5718-12C0-5454-A2D3408F3F25}"/>
              </a:ext>
            </a:extLst>
          </p:cNvPr>
          <p:cNvSpPr txBox="1"/>
          <p:nvPr/>
        </p:nvSpPr>
        <p:spPr>
          <a:xfrm>
            <a:off x="9930384" y="2258568"/>
            <a:ext cx="11430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280" b="1">
                <a:solidFill>
                  <a:srgbClr val="1F1A16"/>
                </a:solidFill>
                <a:latin typeface="Aptos" panose="02110004020202020204"/>
              </a:rPr>
              <a:t>Опубликовать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A4874E0B-2989-734B-52CE-D3EA027DB70E}"/>
              </a:ext>
            </a:extLst>
          </p:cNvPr>
          <p:cNvSpPr/>
          <p:nvPr/>
        </p:nvSpPr>
        <p:spPr>
          <a:xfrm>
            <a:off x="1170432" y="3931920"/>
            <a:ext cx="9875520" cy="10515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365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7FA8F7-6114-993D-AEA4-6B9DB453EC34}"/>
              </a:ext>
            </a:extLst>
          </p:cNvPr>
          <p:cNvSpPr txBox="1"/>
          <p:nvPr/>
        </p:nvSpPr>
        <p:spPr>
          <a:xfrm>
            <a:off x="1481328" y="4224528"/>
            <a:ext cx="9235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b="1">
                <a:solidFill>
                  <a:srgbClr val="36513F"/>
                </a:solidFill>
                <a:latin typeface="Aptos" panose="02110004020202020204"/>
              </a:rPr>
              <a:t>Автор не копирует главу в другой сервис и не объясняет контекст заново.</a:t>
            </a:r>
          </a:p>
        </p:txBody>
      </p:sp>
    </p:spTree>
    <p:extLst>
      <p:ext uri="{BB962C8B-B14F-4D97-AF65-F5344CB8AC3E}">
        <p14:creationId xmlns:p14="http://schemas.microsoft.com/office/powerpoint/2010/main" val="2746156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4D13CE9-10A4-E1B8-C7F0-BD1B54C298F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C154C9F-2A45-BD37-EEDE-EB2D4F193261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5F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E232C-99F3-6158-085D-923D6F8A35BE}"/>
              </a:ext>
            </a:extLst>
          </p:cNvPr>
          <p:cNvSpPr txBox="1"/>
          <p:nvPr/>
        </p:nvSpPr>
        <p:spPr>
          <a:xfrm>
            <a:off x="10195560" y="6519672"/>
            <a:ext cx="146304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750" b="1">
                <a:solidFill>
                  <a:srgbClr val="6F665C"/>
                </a:solidFill>
                <a:latin typeface="Aptos" panose="02110004020202020204"/>
              </a:rPr>
              <a:t>Plotty · 07</a:t>
            </a:r>
            <a:endParaRPr lang="ru-RU" sz="750" b="1">
              <a:solidFill>
                <a:srgbClr val="6F665C"/>
              </a:solidFill>
              <a:latin typeface="Aptos" panose="02110004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4551C-41FC-E80C-EDBE-1BC9B65A6CF0}"/>
              </a:ext>
            </a:extLst>
          </p:cNvPr>
          <p:cNvSpPr txBox="1"/>
          <p:nvPr/>
        </p:nvSpPr>
        <p:spPr>
          <a:xfrm>
            <a:off x="566928" y="384048"/>
            <a:ext cx="905256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F1A16"/>
                </a:solidFill>
                <a:latin typeface="Aptos" panose="02110004020202020204"/>
              </a:rPr>
              <a:t>AI beta-reader</a:t>
            </a:r>
            <a:endParaRPr lang="ru-RU" sz="3000" b="1">
              <a:solidFill>
                <a:srgbClr val="1F1A16"/>
              </a:solidFill>
              <a:latin typeface="Aptos" panose="02110004020202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48AF6-3DE6-81A6-D821-2533F84C8DA9}"/>
              </a:ext>
            </a:extLst>
          </p:cNvPr>
          <p:cNvSpPr txBox="1"/>
          <p:nvPr/>
        </p:nvSpPr>
        <p:spPr>
          <a:xfrm>
            <a:off x="566928" y="1060704"/>
            <a:ext cx="859536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50">
                <a:solidFill>
                  <a:srgbClr val="6F665C"/>
                </a:solidFill>
                <a:latin typeface="Aptos" panose="02110004020202020204"/>
              </a:rPr>
              <a:t>Проверяет не только язык, но и фанфик-контекст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694AF36-18FC-E269-BE29-2DCCBE6CD9D3}"/>
              </a:ext>
            </a:extLst>
          </p:cNvPr>
          <p:cNvSpPr/>
          <p:nvPr/>
        </p:nvSpPr>
        <p:spPr>
          <a:xfrm>
            <a:off x="658368" y="1783080"/>
            <a:ext cx="3246120" cy="1261872"/>
          </a:xfrm>
          <a:prstGeom prst="roundRect">
            <a:avLst/>
          </a:prstGeom>
          <a:solidFill>
            <a:srgbClr val="F1D4CA"/>
          </a:solidFill>
          <a:ln w="9525">
            <a:solidFill>
              <a:srgbClr val="BC5F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2E0E83-86E4-9EA1-9D7E-C5E86DC3D8C9}"/>
              </a:ext>
            </a:extLst>
          </p:cNvPr>
          <p:cNvSpPr txBox="1"/>
          <p:nvPr/>
        </p:nvSpPr>
        <p:spPr>
          <a:xfrm>
            <a:off x="886968" y="2039112"/>
            <a:ext cx="265176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BC5F3D"/>
                </a:solidFill>
                <a:latin typeface="Aptos" panose="02110004020202020204"/>
              </a:rPr>
              <a:t>Орфография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14438F-0BC5-4696-D17E-7019DFB3F387}"/>
              </a:ext>
            </a:extLst>
          </p:cNvPr>
          <p:cNvSpPr txBox="1"/>
          <p:nvPr/>
        </p:nvSpPr>
        <p:spPr>
          <a:xfrm>
            <a:off x="886968" y="2404872"/>
            <a:ext cx="260604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50">
                <a:solidFill>
                  <a:srgbClr val="1F1A16"/>
                </a:solidFill>
                <a:latin typeface="Aptos" panose="02110004020202020204"/>
              </a:rPr>
              <a:t>подсветка спорных мест и быстрые исправления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A2F6AE9-3986-B98C-1B20-69851C074B1D}"/>
              </a:ext>
            </a:extLst>
          </p:cNvPr>
          <p:cNvSpPr/>
          <p:nvPr/>
        </p:nvSpPr>
        <p:spPr>
          <a:xfrm>
            <a:off x="4361688" y="1783080"/>
            <a:ext cx="3246120" cy="1261872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365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726493-F747-BD4B-B6C7-12952C4D7633}"/>
              </a:ext>
            </a:extLst>
          </p:cNvPr>
          <p:cNvSpPr txBox="1"/>
          <p:nvPr/>
        </p:nvSpPr>
        <p:spPr>
          <a:xfrm>
            <a:off x="4590288" y="2039112"/>
            <a:ext cx="265176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36513F"/>
                </a:solidFill>
                <a:latin typeface="Aptos" panose="02110004020202020204"/>
              </a:rPr>
              <a:t>Логика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3A2FCA-651F-19F4-AB2C-B3BB62336844}"/>
              </a:ext>
            </a:extLst>
          </p:cNvPr>
          <p:cNvSpPr txBox="1"/>
          <p:nvPr/>
        </p:nvSpPr>
        <p:spPr>
          <a:xfrm>
            <a:off x="4590288" y="2404872"/>
            <a:ext cx="260604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50">
                <a:solidFill>
                  <a:srgbClr val="1F1A16"/>
                </a:solidFill>
                <a:latin typeface="Aptos" panose="02110004020202020204"/>
              </a:rPr>
              <a:t>причинность, мотивация, внутренние противоречия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F58EEC1-120A-A17C-139B-9F9A01FCB573}"/>
              </a:ext>
            </a:extLst>
          </p:cNvPr>
          <p:cNvSpPr/>
          <p:nvPr/>
        </p:nvSpPr>
        <p:spPr>
          <a:xfrm>
            <a:off x="658368" y="3465576"/>
            <a:ext cx="3246120" cy="1261872"/>
          </a:xfrm>
          <a:prstGeom prst="roundRect">
            <a:avLst/>
          </a:prstGeom>
          <a:solidFill>
            <a:srgbClr val="DCE5EF"/>
          </a:solidFill>
          <a:ln w="9525">
            <a:solidFill>
              <a:srgbClr val="253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9C694F-07E8-FFED-31E2-7E032D9F3C31}"/>
              </a:ext>
            </a:extLst>
          </p:cNvPr>
          <p:cNvSpPr txBox="1"/>
          <p:nvPr/>
        </p:nvSpPr>
        <p:spPr>
          <a:xfrm>
            <a:off x="886968" y="3721608"/>
            <a:ext cx="265176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253349"/>
                </a:solidFill>
                <a:latin typeface="Aptos" panose="02110004020202020204"/>
              </a:rPr>
              <a:t>Канон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0743A5-0CA1-7D8D-B3B5-886B15F6D990}"/>
              </a:ext>
            </a:extLst>
          </p:cNvPr>
          <p:cNvSpPr txBox="1"/>
          <p:nvPr/>
        </p:nvSpPr>
        <p:spPr>
          <a:xfrm>
            <a:off x="886968" y="4087368"/>
            <a:ext cx="260604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50">
                <a:solidFill>
                  <a:srgbClr val="1F1A16"/>
                </a:solidFill>
                <a:latin typeface="Aptos" panose="02110004020202020204"/>
              </a:rPr>
              <a:t>фандом, OOC, лор и правила мира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4C78D40-8681-B0CA-8DA6-CC2BA61AA28C}"/>
              </a:ext>
            </a:extLst>
          </p:cNvPr>
          <p:cNvSpPr/>
          <p:nvPr/>
        </p:nvSpPr>
        <p:spPr>
          <a:xfrm>
            <a:off x="4361688" y="3465576"/>
            <a:ext cx="3246120" cy="1261872"/>
          </a:xfrm>
          <a:prstGeom prst="roundRect">
            <a:avLst/>
          </a:prstGeom>
          <a:solidFill>
            <a:srgbClr val="F4E6C9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98CFA7-B183-2760-1608-55F1357EE9BC}"/>
              </a:ext>
            </a:extLst>
          </p:cNvPr>
          <p:cNvSpPr txBox="1"/>
          <p:nvPr/>
        </p:nvSpPr>
        <p:spPr>
          <a:xfrm>
            <a:off x="4590288" y="3721608"/>
            <a:ext cx="265176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C8953A"/>
                </a:solidFill>
                <a:latin typeface="Aptos" panose="02110004020202020204"/>
              </a:rPr>
              <a:t>Иллюстрация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4A5932-E3D6-9FBF-BF27-D581E1D4A173}"/>
              </a:ext>
            </a:extLst>
          </p:cNvPr>
          <p:cNvSpPr txBox="1"/>
          <p:nvPr/>
        </p:nvSpPr>
        <p:spPr>
          <a:xfrm>
            <a:off x="4590288" y="4087368"/>
            <a:ext cx="260604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50">
                <a:solidFill>
                  <a:srgbClr val="1F1A16"/>
                </a:solidFill>
                <a:latin typeface="Aptos" panose="02110004020202020204"/>
              </a:rPr>
              <a:t>образ главы по тексту и промпту автора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A1AD4356-DFA9-1981-B5E9-7EC1663F8E25}"/>
              </a:ext>
            </a:extLst>
          </p:cNvPr>
          <p:cNvSpPr/>
          <p:nvPr/>
        </p:nvSpPr>
        <p:spPr>
          <a:xfrm>
            <a:off x="8321040" y="1874520"/>
            <a:ext cx="2926080" cy="31089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B2FAFD-9276-05A2-0E51-19C2A1BEF006}"/>
              </a:ext>
            </a:extLst>
          </p:cNvPr>
          <p:cNvSpPr txBox="1"/>
          <p:nvPr/>
        </p:nvSpPr>
        <p:spPr>
          <a:xfrm>
            <a:off x="8577072" y="2176272"/>
            <a:ext cx="128016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 b="1">
                <a:solidFill>
                  <a:srgbClr val="BC5F3D"/>
                </a:solidFill>
                <a:latin typeface="Aptos" panose="02110004020202020204"/>
              </a:rPr>
              <a:t>Замечание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45FE90-D656-2129-3638-E3F61B7EC7C8}"/>
              </a:ext>
            </a:extLst>
          </p:cNvPr>
          <p:cNvSpPr txBox="1"/>
          <p:nvPr/>
        </p:nvSpPr>
        <p:spPr>
          <a:xfrm>
            <a:off x="8577072" y="2670048"/>
            <a:ext cx="214884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250">
                <a:solidFill>
                  <a:srgbClr val="1F1A16"/>
                </a:solidFill>
                <a:latin typeface="Aptos" panose="02110004020202020204"/>
              </a:rPr>
              <a:t>Герой резко меняет решение. Проверь, есть ли причина в прошлых главах.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768F15F-46F6-8CBD-4974-872BDF8641C1}"/>
              </a:ext>
            </a:extLst>
          </p:cNvPr>
          <p:cNvSpPr/>
          <p:nvPr/>
        </p:nvSpPr>
        <p:spPr>
          <a:xfrm>
            <a:off x="8577072" y="3977640"/>
            <a:ext cx="960120" cy="365760"/>
          </a:xfrm>
          <a:prstGeom prst="roundRect">
            <a:avLst/>
          </a:prstGeom>
          <a:solidFill>
            <a:srgbClr val="F1D4CA"/>
          </a:solidFill>
          <a:ln w="9525">
            <a:solidFill>
              <a:srgbClr val="BC5F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377219-AD54-2382-B443-F141C1483273}"/>
              </a:ext>
            </a:extLst>
          </p:cNvPr>
          <p:cNvSpPr txBox="1"/>
          <p:nvPr/>
        </p:nvSpPr>
        <p:spPr>
          <a:xfrm>
            <a:off x="8650224" y="4078224"/>
            <a:ext cx="81381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BC5F3D"/>
                </a:solidFill>
                <a:latin typeface="Aptos" panose="02110004020202020204"/>
              </a:rPr>
              <a:t>исправить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2275F8F5-6DA8-205A-B862-06BD82FDCCC2}"/>
              </a:ext>
            </a:extLst>
          </p:cNvPr>
          <p:cNvSpPr/>
          <p:nvPr/>
        </p:nvSpPr>
        <p:spPr>
          <a:xfrm>
            <a:off x="9710928" y="3977640"/>
            <a:ext cx="960120" cy="365760"/>
          </a:xfrm>
          <a:prstGeom prst="roundRect">
            <a:avLst/>
          </a:prstGeom>
          <a:solidFill>
            <a:srgbClr val="ECE7DF"/>
          </a:solidFill>
          <a:ln w="9525">
            <a:solidFill>
              <a:srgbClr val="6F66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B0C0C6-C6C8-B85C-551D-D8BAE4D7B4CF}"/>
              </a:ext>
            </a:extLst>
          </p:cNvPr>
          <p:cNvSpPr txBox="1"/>
          <p:nvPr/>
        </p:nvSpPr>
        <p:spPr>
          <a:xfrm>
            <a:off x="9784080" y="4078224"/>
            <a:ext cx="81381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6F665C"/>
                </a:solidFill>
                <a:latin typeface="Aptos" panose="02110004020202020204"/>
              </a:rPr>
              <a:t>оставить</a:t>
            </a:r>
          </a:p>
        </p:txBody>
      </p:sp>
    </p:spTree>
    <p:extLst>
      <p:ext uri="{BB962C8B-B14F-4D97-AF65-F5344CB8AC3E}">
        <p14:creationId xmlns:p14="http://schemas.microsoft.com/office/powerpoint/2010/main" val="3316523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7B2AC8F-3D36-932E-783B-48ACD6BED26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68240D6-B82E-B5F2-1D27-62C56BD0FF7D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5F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83B49-3BDC-6AFA-8C2E-E27886665B5A}"/>
              </a:ext>
            </a:extLst>
          </p:cNvPr>
          <p:cNvSpPr txBox="1"/>
          <p:nvPr/>
        </p:nvSpPr>
        <p:spPr>
          <a:xfrm>
            <a:off x="10195560" y="6519672"/>
            <a:ext cx="146304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750" b="1">
                <a:solidFill>
                  <a:srgbClr val="6F665C"/>
                </a:solidFill>
                <a:latin typeface="Aptos" panose="02110004020202020204"/>
              </a:rPr>
              <a:t>Plotty · 08</a:t>
            </a:r>
            <a:endParaRPr lang="ru-RU" sz="750" b="1">
              <a:solidFill>
                <a:srgbClr val="6F665C"/>
              </a:solidFill>
              <a:latin typeface="Aptos" panose="02110004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2646E-54AA-73D7-F03E-84FEF371EA72}"/>
              </a:ext>
            </a:extLst>
          </p:cNvPr>
          <p:cNvSpPr txBox="1"/>
          <p:nvPr/>
        </p:nvSpPr>
        <p:spPr>
          <a:xfrm>
            <a:off x="566928" y="384048"/>
            <a:ext cx="905256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1F1A16"/>
                </a:solidFill>
                <a:latin typeface="Aptos" panose="02110004020202020204"/>
              </a:rPr>
              <a:t>Справочник по главе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FEF5F-7F84-2A52-F15A-6AFC21A49115}"/>
              </a:ext>
            </a:extLst>
          </p:cNvPr>
          <p:cNvSpPr txBox="1"/>
          <p:nvPr/>
        </p:nvSpPr>
        <p:spPr>
          <a:xfrm>
            <a:off x="566928" y="1060704"/>
            <a:ext cx="859536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50">
                <a:solidFill>
                  <a:srgbClr val="6F665C"/>
                </a:solidFill>
                <a:latin typeface="Aptos" panose="02110004020202020204"/>
              </a:rPr>
              <a:t>Персонажи, локации и предметы без спойлеров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40BEF25-3876-670D-E947-F81A9305FFD9}"/>
              </a:ext>
            </a:extLst>
          </p:cNvPr>
          <p:cNvSpPr/>
          <p:nvPr/>
        </p:nvSpPr>
        <p:spPr>
          <a:xfrm>
            <a:off x="868680" y="1737360"/>
            <a:ext cx="4846320" cy="352044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478A5-C7CA-0E7B-56C5-516C8D1BC58D}"/>
              </a:ext>
            </a:extLst>
          </p:cNvPr>
          <p:cNvSpPr txBox="1"/>
          <p:nvPr/>
        </p:nvSpPr>
        <p:spPr>
          <a:xfrm>
            <a:off x="1188720" y="2011680"/>
            <a:ext cx="128016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50" b="1">
                <a:solidFill>
                  <a:srgbClr val="BC5F3D"/>
                </a:solidFill>
                <a:latin typeface="Aptos" panose="02110004020202020204"/>
              </a:rPr>
              <a:t>Бесспойлерно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5355D9-DB19-B553-4E06-CECF8B6F076B}"/>
              </a:ext>
            </a:extLst>
          </p:cNvPr>
          <p:cNvSpPr txBox="1"/>
          <p:nvPr/>
        </p:nvSpPr>
        <p:spPr>
          <a:xfrm>
            <a:off x="1188720" y="2331720"/>
            <a:ext cx="219456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200" b="1">
                <a:solidFill>
                  <a:srgbClr val="1F1A16"/>
                </a:solidFill>
                <a:latin typeface="Aptos" panose="02110004020202020204"/>
              </a:rPr>
              <a:t>Справочник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2C58992-0C86-A2D9-FDF4-A05FD236721B}"/>
              </a:ext>
            </a:extLst>
          </p:cNvPr>
          <p:cNvSpPr/>
          <p:nvPr/>
        </p:nvSpPr>
        <p:spPr>
          <a:xfrm>
            <a:off x="1188720" y="2862072"/>
            <a:ext cx="3840480" cy="438912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365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F35721-BD48-BBFD-EDEE-3EAAA9A574D6}"/>
              </a:ext>
            </a:extLst>
          </p:cNvPr>
          <p:cNvSpPr txBox="1"/>
          <p:nvPr/>
        </p:nvSpPr>
        <p:spPr>
          <a:xfrm>
            <a:off x="1389888" y="2980944"/>
            <a:ext cx="109728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50" b="1">
                <a:solidFill>
                  <a:srgbClr val="36513F"/>
                </a:solidFill>
                <a:latin typeface="Aptos" panose="02110004020202020204"/>
              </a:rPr>
              <a:t>Персонажи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B8FD3-01F1-6C31-6B95-10814D338BA2}"/>
              </a:ext>
            </a:extLst>
          </p:cNvPr>
          <p:cNvSpPr txBox="1"/>
          <p:nvPr/>
        </p:nvSpPr>
        <p:spPr>
          <a:xfrm>
            <a:off x="2514600" y="2980944"/>
            <a:ext cx="233172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80">
                <a:solidFill>
                  <a:srgbClr val="1F1A16"/>
                </a:solidFill>
                <a:latin typeface="Aptos" panose="02110004020202020204"/>
              </a:rPr>
              <a:t>что герой знает и где находится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E081B9E-3E2D-14C7-3C5E-9ACC9349CD20}"/>
              </a:ext>
            </a:extLst>
          </p:cNvPr>
          <p:cNvSpPr/>
          <p:nvPr/>
        </p:nvSpPr>
        <p:spPr>
          <a:xfrm>
            <a:off x="1188720" y="3483864"/>
            <a:ext cx="3840480" cy="438912"/>
          </a:xfrm>
          <a:prstGeom prst="roundRect">
            <a:avLst/>
          </a:prstGeom>
          <a:solidFill>
            <a:srgbClr val="DCE5EF"/>
          </a:solidFill>
          <a:ln w="9525">
            <a:solidFill>
              <a:srgbClr val="253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B75C89-63CF-77CF-B75B-6B443987BA22}"/>
              </a:ext>
            </a:extLst>
          </p:cNvPr>
          <p:cNvSpPr txBox="1"/>
          <p:nvPr/>
        </p:nvSpPr>
        <p:spPr>
          <a:xfrm>
            <a:off x="1389888" y="3602736"/>
            <a:ext cx="109728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50" b="1">
                <a:solidFill>
                  <a:srgbClr val="253349"/>
                </a:solidFill>
                <a:latin typeface="Aptos" panose="02110004020202020204"/>
              </a:rPr>
              <a:t>Локации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570936-CFAC-4BE4-650D-66F9B2DBADAE}"/>
              </a:ext>
            </a:extLst>
          </p:cNvPr>
          <p:cNvSpPr txBox="1"/>
          <p:nvPr/>
        </p:nvSpPr>
        <p:spPr>
          <a:xfrm>
            <a:off x="2514600" y="3602736"/>
            <a:ext cx="233172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80">
                <a:solidFill>
                  <a:srgbClr val="1F1A16"/>
                </a:solidFill>
                <a:latin typeface="Aptos" panose="02110004020202020204"/>
              </a:rPr>
              <a:t>какие места уже появились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195A95E8-F819-D210-92A9-81509AD753BB}"/>
              </a:ext>
            </a:extLst>
          </p:cNvPr>
          <p:cNvSpPr/>
          <p:nvPr/>
        </p:nvSpPr>
        <p:spPr>
          <a:xfrm>
            <a:off x="1188720" y="4105656"/>
            <a:ext cx="3840480" cy="438912"/>
          </a:xfrm>
          <a:prstGeom prst="roundRect">
            <a:avLst/>
          </a:prstGeom>
          <a:solidFill>
            <a:srgbClr val="F4E6C9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B2CDBE-543B-3616-1A0D-E8FFD3608FEE}"/>
              </a:ext>
            </a:extLst>
          </p:cNvPr>
          <p:cNvSpPr txBox="1"/>
          <p:nvPr/>
        </p:nvSpPr>
        <p:spPr>
          <a:xfrm>
            <a:off x="1389888" y="4224528"/>
            <a:ext cx="109728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950" b="1">
                <a:solidFill>
                  <a:srgbClr val="C8953A"/>
                </a:solidFill>
                <a:latin typeface="Aptos" panose="02110004020202020204"/>
              </a:rPr>
              <a:t>Предметы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259405-D1BA-A5FA-A754-16B5D93C734B}"/>
              </a:ext>
            </a:extLst>
          </p:cNvPr>
          <p:cNvSpPr txBox="1"/>
          <p:nvPr/>
        </p:nvSpPr>
        <p:spPr>
          <a:xfrm>
            <a:off x="2514600" y="4224528"/>
            <a:ext cx="233172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80">
                <a:solidFill>
                  <a:srgbClr val="1F1A16"/>
                </a:solidFill>
                <a:latin typeface="Aptos" panose="02110004020202020204"/>
              </a:rPr>
              <a:t>важные вещи и их статус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CB11C6-140B-6A1C-87D6-D0A3D90D9896}"/>
              </a:ext>
            </a:extLst>
          </p:cNvPr>
          <p:cNvSpPr txBox="1"/>
          <p:nvPr/>
        </p:nvSpPr>
        <p:spPr>
          <a:xfrm>
            <a:off x="6400800" y="2148840"/>
            <a:ext cx="429768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200" b="1">
                <a:solidFill>
                  <a:srgbClr val="36513F"/>
                </a:solidFill>
                <a:latin typeface="Aptos" panose="02110004020202020204"/>
              </a:rPr>
              <a:t>Особенно полезно для длинных историй и фандомов с большим лором.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6E184747-EF03-BA3C-4AE7-FA8955A332EE}"/>
              </a:ext>
            </a:extLst>
          </p:cNvPr>
          <p:cNvSpPr/>
          <p:nvPr/>
        </p:nvSpPr>
        <p:spPr>
          <a:xfrm>
            <a:off x="6446520" y="3227832"/>
            <a:ext cx="457200" cy="457200"/>
          </a:xfrm>
          <a:prstGeom prst="ellipse">
            <a:avLst/>
          </a:prstGeom>
          <a:solidFill>
            <a:srgbClr val="DDE8D7"/>
          </a:solidFill>
          <a:ln w="9525">
            <a:solidFill>
              <a:srgbClr val="365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99D947-4008-EC78-2E8E-67F07D8AA41D}"/>
              </a:ext>
            </a:extLst>
          </p:cNvPr>
          <p:cNvSpPr txBox="1"/>
          <p:nvPr/>
        </p:nvSpPr>
        <p:spPr>
          <a:xfrm>
            <a:off x="6446520" y="3332988"/>
            <a:ext cx="457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150" b="1">
                <a:solidFill>
                  <a:srgbClr val="36513F"/>
                </a:solidFill>
                <a:latin typeface="Aptos" panose="02110004020202020204"/>
              </a:rPr>
              <a:t>•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45D496-3AD8-E881-7A7D-675597984E50}"/>
              </a:ext>
            </a:extLst>
          </p:cNvPr>
          <p:cNvSpPr txBox="1"/>
          <p:nvPr/>
        </p:nvSpPr>
        <p:spPr>
          <a:xfrm>
            <a:off x="7050024" y="3246120"/>
            <a:ext cx="384048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50">
                <a:solidFill>
                  <a:srgbClr val="1F1A16"/>
                </a:solidFill>
                <a:latin typeface="Aptos" panose="02110004020202020204"/>
              </a:rPr>
              <a:t>читатель вспоминает контекст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2BA4D3ED-110E-45AB-E990-FC3897419B58}"/>
              </a:ext>
            </a:extLst>
          </p:cNvPr>
          <p:cNvSpPr/>
          <p:nvPr/>
        </p:nvSpPr>
        <p:spPr>
          <a:xfrm>
            <a:off x="6446520" y="3867912"/>
            <a:ext cx="457200" cy="457200"/>
          </a:xfrm>
          <a:prstGeom prst="ellipse">
            <a:avLst/>
          </a:prstGeom>
          <a:solidFill>
            <a:srgbClr val="DCE5EF"/>
          </a:solidFill>
          <a:ln w="9525">
            <a:solidFill>
              <a:srgbClr val="253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BC186B-2849-23F0-BE4B-67D4832BA0E1}"/>
              </a:ext>
            </a:extLst>
          </p:cNvPr>
          <p:cNvSpPr txBox="1"/>
          <p:nvPr/>
        </p:nvSpPr>
        <p:spPr>
          <a:xfrm>
            <a:off x="6446520" y="3973068"/>
            <a:ext cx="457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150" b="1">
                <a:solidFill>
                  <a:srgbClr val="253349"/>
                </a:solidFill>
                <a:latin typeface="Aptos" panose="02110004020202020204"/>
              </a:rPr>
              <a:t>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92B1CE-DCED-5FB1-06A8-B90249B51A2E}"/>
              </a:ext>
            </a:extLst>
          </p:cNvPr>
          <p:cNvSpPr txBox="1"/>
          <p:nvPr/>
        </p:nvSpPr>
        <p:spPr>
          <a:xfrm>
            <a:off x="7050024" y="3886200"/>
            <a:ext cx="384048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50">
                <a:solidFill>
                  <a:srgbClr val="1F1A16"/>
                </a:solidFill>
                <a:latin typeface="Aptos" panose="02110004020202020204"/>
              </a:rPr>
              <a:t>автор видит состояние мира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49362AA6-96CB-E115-95D6-743A86C3908A}"/>
              </a:ext>
            </a:extLst>
          </p:cNvPr>
          <p:cNvSpPr/>
          <p:nvPr/>
        </p:nvSpPr>
        <p:spPr>
          <a:xfrm>
            <a:off x="6446520" y="4507992"/>
            <a:ext cx="457200" cy="457200"/>
          </a:xfrm>
          <a:prstGeom prst="ellipse">
            <a:avLst/>
          </a:prstGeom>
          <a:solidFill>
            <a:srgbClr val="F4E6C9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7F4F17-4365-9FF8-75DC-4E5D2DCAC2A9}"/>
              </a:ext>
            </a:extLst>
          </p:cNvPr>
          <p:cNvSpPr txBox="1"/>
          <p:nvPr/>
        </p:nvSpPr>
        <p:spPr>
          <a:xfrm>
            <a:off x="6446520" y="4613148"/>
            <a:ext cx="457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150" b="1">
                <a:solidFill>
                  <a:srgbClr val="C8953A"/>
                </a:solidFill>
                <a:latin typeface="Aptos" panose="02110004020202020204"/>
              </a:rPr>
              <a:t>•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58A710-28B7-AC53-4A6A-06A03A53062E}"/>
              </a:ext>
            </a:extLst>
          </p:cNvPr>
          <p:cNvSpPr txBox="1"/>
          <p:nvPr/>
        </p:nvSpPr>
        <p:spPr>
          <a:xfrm>
            <a:off x="7050024" y="4526280"/>
            <a:ext cx="384048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50">
                <a:solidFill>
                  <a:srgbClr val="1F1A16"/>
                </a:solidFill>
                <a:latin typeface="Aptos" panose="02110004020202020204"/>
              </a:rPr>
              <a:t>спойлеры не раскрываются раньше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227754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EEDA1D-30B9-B40C-34C1-5A720B24990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96238AD-CC16-FEF3-9612-7B5AE0537738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5F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867CBE-B85C-EF9B-1E6D-B682FAC4E633}"/>
              </a:ext>
            </a:extLst>
          </p:cNvPr>
          <p:cNvSpPr txBox="1"/>
          <p:nvPr/>
        </p:nvSpPr>
        <p:spPr>
          <a:xfrm>
            <a:off x="10195560" y="6519672"/>
            <a:ext cx="146304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750" b="1">
                <a:solidFill>
                  <a:srgbClr val="6F665C"/>
                </a:solidFill>
                <a:latin typeface="Aptos" panose="02110004020202020204"/>
              </a:rPr>
              <a:t>Plotty · 09</a:t>
            </a:r>
            <a:endParaRPr lang="ru-RU" sz="750" b="1">
              <a:solidFill>
                <a:srgbClr val="6F665C"/>
              </a:solidFill>
              <a:latin typeface="Aptos" panose="02110004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CDD09-7201-D874-0B52-C382AA919777}"/>
              </a:ext>
            </a:extLst>
          </p:cNvPr>
          <p:cNvSpPr txBox="1"/>
          <p:nvPr/>
        </p:nvSpPr>
        <p:spPr>
          <a:xfrm>
            <a:off x="566928" y="384048"/>
            <a:ext cx="905256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1F1A16"/>
                </a:solidFill>
                <a:latin typeface="Aptos" panose="02110004020202020204"/>
              </a:rPr>
              <a:t>Схема проекта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3055D-0909-228C-DEB7-4E24828B8879}"/>
              </a:ext>
            </a:extLst>
          </p:cNvPr>
          <p:cNvSpPr txBox="1"/>
          <p:nvPr/>
        </p:nvSpPr>
        <p:spPr>
          <a:xfrm>
            <a:off x="566928" y="1060704"/>
            <a:ext cx="859536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50">
                <a:solidFill>
                  <a:srgbClr val="6F665C"/>
                </a:solidFill>
                <a:latin typeface="Aptos" panose="02110004020202020204"/>
              </a:rPr>
              <a:t>Простая логика: интерфейс, данные и AI-задачи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38ACCCE-4BEB-4133-012D-9606649B47DD}"/>
              </a:ext>
            </a:extLst>
          </p:cNvPr>
          <p:cNvSpPr/>
          <p:nvPr/>
        </p:nvSpPr>
        <p:spPr>
          <a:xfrm>
            <a:off x="685800" y="2743200"/>
            <a:ext cx="1691640" cy="77724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48738F-857D-E1C4-395A-42F68E0704ED}"/>
              </a:ext>
            </a:extLst>
          </p:cNvPr>
          <p:cNvSpPr txBox="1"/>
          <p:nvPr/>
        </p:nvSpPr>
        <p:spPr>
          <a:xfrm>
            <a:off x="832104" y="2926080"/>
            <a:ext cx="1399032" cy="1892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230" b="1">
                <a:solidFill>
                  <a:srgbClr val="1F1A16"/>
                </a:solidFill>
                <a:latin typeface="Aptos" panose="02110004020202020204"/>
              </a:rPr>
              <a:t>Пользователь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CD5C157-D8D0-3CAA-5F1C-6D26EF61C1F8}"/>
              </a:ext>
            </a:extLst>
          </p:cNvPr>
          <p:cNvSpPr/>
          <p:nvPr/>
        </p:nvSpPr>
        <p:spPr>
          <a:xfrm>
            <a:off x="2834640" y="2423160"/>
            <a:ext cx="2057400" cy="1417320"/>
          </a:xfrm>
          <a:prstGeom prst="roundRect">
            <a:avLst/>
          </a:prstGeom>
          <a:solidFill>
            <a:srgbClr val="DCE5EF"/>
          </a:solidFill>
          <a:ln w="9525">
            <a:solidFill>
              <a:srgbClr val="253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0036BE-5362-FB9E-66D6-0D2F3D1FFF8B}"/>
              </a:ext>
            </a:extLst>
          </p:cNvPr>
          <p:cNvSpPr txBox="1"/>
          <p:nvPr/>
        </p:nvSpPr>
        <p:spPr>
          <a:xfrm>
            <a:off x="2980944" y="2606040"/>
            <a:ext cx="1764792" cy="5678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230" b="1">
                <a:solidFill>
                  <a:srgbClr val="1F1A16"/>
                </a:solidFill>
                <a:latin typeface="Aptos" panose="02110004020202020204"/>
              </a:rPr>
              <a:t>Plotty frontend
каталог, читалка,
мастерская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E617E3CC-7B29-3236-FCDB-CBFC6DFFB38A}"/>
              </a:ext>
            </a:extLst>
          </p:cNvPr>
          <p:cNvSpPr/>
          <p:nvPr/>
        </p:nvSpPr>
        <p:spPr>
          <a:xfrm>
            <a:off x="5440680" y="2423160"/>
            <a:ext cx="2057400" cy="1417320"/>
          </a:xfrm>
          <a:prstGeom prst="roundRect">
            <a:avLst/>
          </a:prstGeom>
          <a:solidFill>
            <a:srgbClr val="F4E6C9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0AFC38-EA54-5D52-9CB5-5AB9282BBB61}"/>
              </a:ext>
            </a:extLst>
          </p:cNvPr>
          <p:cNvSpPr txBox="1"/>
          <p:nvPr/>
        </p:nvSpPr>
        <p:spPr>
          <a:xfrm>
            <a:off x="5586984" y="2606040"/>
            <a:ext cx="1764792" cy="5678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230" b="1">
                <a:solidFill>
                  <a:srgbClr val="1F1A16"/>
                </a:solidFill>
                <a:latin typeface="Aptos" panose="02110004020202020204"/>
              </a:rPr>
              <a:t>Backend API
истории, профили,
кредиты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09D29A0-6566-E256-BA69-391F259566D2}"/>
              </a:ext>
            </a:extLst>
          </p:cNvPr>
          <p:cNvSpPr/>
          <p:nvPr/>
        </p:nvSpPr>
        <p:spPr>
          <a:xfrm>
            <a:off x="8229600" y="1143000"/>
            <a:ext cx="2377440" cy="1417320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365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CFBC0A-D407-4A4D-484B-8E2095C3A905}"/>
              </a:ext>
            </a:extLst>
          </p:cNvPr>
          <p:cNvSpPr txBox="1"/>
          <p:nvPr/>
        </p:nvSpPr>
        <p:spPr>
          <a:xfrm>
            <a:off x="8375904" y="1325880"/>
            <a:ext cx="2084832" cy="5678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230" b="1">
                <a:solidFill>
                  <a:srgbClr val="1F1A16"/>
                </a:solidFill>
                <a:latin typeface="Aptos" panose="02110004020202020204"/>
              </a:rPr>
              <a:t>База данных
пользователи, тексты,
комментарии, полки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061BF81D-EF0F-2470-8AED-B2EFF9471FD8}"/>
              </a:ext>
            </a:extLst>
          </p:cNvPr>
          <p:cNvSpPr/>
          <p:nvPr/>
        </p:nvSpPr>
        <p:spPr>
          <a:xfrm>
            <a:off x="8229600" y="4023360"/>
            <a:ext cx="2377440" cy="1417320"/>
          </a:xfrm>
          <a:prstGeom prst="roundRect">
            <a:avLst/>
          </a:prstGeom>
          <a:solidFill>
            <a:srgbClr val="F1D4CA"/>
          </a:solidFill>
          <a:ln w="9525">
            <a:solidFill>
              <a:srgbClr val="BC5F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383448-4818-95CB-80AA-187BA044DD97}"/>
              </a:ext>
            </a:extLst>
          </p:cNvPr>
          <p:cNvSpPr txBox="1"/>
          <p:nvPr/>
        </p:nvSpPr>
        <p:spPr>
          <a:xfrm>
            <a:off x="8375904" y="4206240"/>
            <a:ext cx="2084832" cy="5678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30" b="1">
                <a:solidFill>
                  <a:srgbClr val="1F1A16"/>
                </a:solidFill>
                <a:latin typeface="Aptos" panose="02110004020202020204"/>
              </a:rPr>
              <a:t>AI-</a:t>
            </a:r>
            <a:r>
              <a:rPr lang="ru-RU" sz="1230" b="1">
                <a:solidFill>
                  <a:srgbClr val="1F1A16"/>
                </a:solidFill>
                <a:latin typeface="Aptos" panose="02110004020202020204"/>
              </a:rPr>
              <a:t>модули
</a:t>
            </a:r>
            <a:r>
              <a:rPr lang="en-US" sz="1230" b="1">
                <a:solidFill>
                  <a:srgbClr val="1F1A16"/>
                </a:solidFill>
                <a:latin typeface="Aptos" panose="02110004020202020204"/>
              </a:rPr>
              <a:t>beta-reader, canon-check,
</a:t>
            </a:r>
            <a:r>
              <a:rPr lang="ru-RU" sz="1230" b="1">
                <a:solidFill>
                  <a:srgbClr val="1F1A16"/>
                </a:solidFill>
                <a:latin typeface="Aptos" panose="02110004020202020204"/>
              </a:rPr>
              <a:t>справочник, иллюстрации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5B26625-0257-1F7F-85FD-4E27726D04B4}"/>
              </a:ext>
            </a:extLst>
          </p:cNvPr>
          <p:cNvCxnSpPr/>
          <p:nvPr/>
        </p:nvCxnSpPr>
        <p:spPr>
          <a:xfrm>
            <a:off x="2377440" y="3136392"/>
            <a:ext cx="438912" cy="0"/>
          </a:xfrm>
          <a:prstGeom prst="line">
            <a:avLst/>
          </a:prstGeom>
          <a:ln w="20320">
            <a:solidFill>
              <a:srgbClr val="6F665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4547D295-1FD2-23CD-B915-9A1337F9D308}"/>
              </a:ext>
            </a:extLst>
          </p:cNvPr>
          <p:cNvCxnSpPr/>
          <p:nvPr/>
        </p:nvCxnSpPr>
        <p:spPr>
          <a:xfrm>
            <a:off x="4901184" y="3136392"/>
            <a:ext cx="521208" cy="0"/>
          </a:xfrm>
          <a:prstGeom prst="line">
            <a:avLst/>
          </a:prstGeom>
          <a:ln w="20320">
            <a:solidFill>
              <a:srgbClr val="6F665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B96B074C-C042-B976-A43C-B55D5E653402}"/>
              </a:ext>
            </a:extLst>
          </p:cNvPr>
          <p:cNvCxnSpPr/>
          <p:nvPr/>
        </p:nvCxnSpPr>
        <p:spPr>
          <a:xfrm flipV="1">
            <a:off x="7516368" y="2029968"/>
            <a:ext cx="713232" cy="713232"/>
          </a:xfrm>
          <a:prstGeom prst="line">
            <a:avLst/>
          </a:prstGeom>
          <a:ln w="20320">
            <a:solidFill>
              <a:srgbClr val="6F665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D4EFABF-E727-283D-802D-358023E75C9B}"/>
              </a:ext>
            </a:extLst>
          </p:cNvPr>
          <p:cNvCxnSpPr/>
          <p:nvPr/>
        </p:nvCxnSpPr>
        <p:spPr>
          <a:xfrm>
            <a:off x="7516368" y="3529584"/>
            <a:ext cx="713232" cy="1207008"/>
          </a:xfrm>
          <a:prstGeom prst="line">
            <a:avLst/>
          </a:prstGeom>
          <a:ln w="20320">
            <a:solidFill>
              <a:srgbClr val="6F665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FB06FE71-F329-FDBF-A13C-9473F3146CBC}"/>
              </a:ext>
            </a:extLst>
          </p:cNvPr>
          <p:cNvCxnSpPr/>
          <p:nvPr/>
        </p:nvCxnSpPr>
        <p:spPr>
          <a:xfrm flipH="1" flipV="1">
            <a:off x="7525512" y="3611880"/>
            <a:ext cx="704088" cy="1371600"/>
          </a:xfrm>
          <a:prstGeom prst="line">
            <a:avLst/>
          </a:prstGeom>
          <a:ln w="20320">
            <a:solidFill>
              <a:srgbClr val="BC5F3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5689CF9B-62F5-3E01-FFE3-682467677E3B}"/>
              </a:ext>
            </a:extLst>
          </p:cNvPr>
          <p:cNvSpPr/>
          <p:nvPr/>
        </p:nvSpPr>
        <p:spPr>
          <a:xfrm>
            <a:off x="4251960" y="5230368"/>
            <a:ext cx="3657600" cy="3657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BC5F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FE20F5-DA3F-7A03-CD16-7FAA9E979888}"/>
              </a:ext>
            </a:extLst>
          </p:cNvPr>
          <p:cNvSpPr txBox="1"/>
          <p:nvPr/>
        </p:nvSpPr>
        <p:spPr>
          <a:xfrm>
            <a:off x="4325112" y="5330952"/>
            <a:ext cx="3511296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950" b="1">
                <a:solidFill>
                  <a:srgbClr val="BC5F3D"/>
                </a:solidFill>
                <a:latin typeface="Aptos" panose="02110004020202020204"/>
              </a:rPr>
              <a:t>результат возвращается в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2137412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0058C27-2F32-57C5-D90B-977E84BAFDC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9FCBDA-BC95-6CDA-1BFA-407DA7AB9DCF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5F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837D2-BF9A-A77B-CA26-9ED4DA84AB41}"/>
              </a:ext>
            </a:extLst>
          </p:cNvPr>
          <p:cNvSpPr txBox="1"/>
          <p:nvPr/>
        </p:nvSpPr>
        <p:spPr>
          <a:xfrm>
            <a:off x="10195560" y="6519672"/>
            <a:ext cx="146304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750" b="1">
                <a:solidFill>
                  <a:srgbClr val="6F665C"/>
                </a:solidFill>
                <a:latin typeface="Aptos" panose="02110004020202020204"/>
              </a:rPr>
              <a:t>Plotty · 10</a:t>
            </a:r>
            <a:endParaRPr lang="ru-RU" sz="750" b="1">
              <a:solidFill>
                <a:srgbClr val="6F665C"/>
              </a:solidFill>
              <a:latin typeface="Aptos" panose="02110004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FED06-F66F-CC53-516A-EAC6B985DE5D}"/>
              </a:ext>
            </a:extLst>
          </p:cNvPr>
          <p:cNvSpPr txBox="1"/>
          <p:nvPr/>
        </p:nvSpPr>
        <p:spPr>
          <a:xfrm>
            <a:off x="566928" y="384048"/>
            <a:ext cx="905256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1F1A16"/>
                </a:solidFill>
                <a:latin typeface="Aptos" panose="02110004020202020204"/>
              </a:rPr>
              <a:t>Сравнение с конкурентами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9D237F-8589-ACC1-B8BD-BFC612AFBD53}"/>
              </a:ext>
            </a:extLst>
          </p:cNvPr>
          <p:cNvSpPr txBox="1"/>
          <p:nvPr/>
        </p:nvSpPr>
        <p:spPr>
          <a:xfrm>
            <a:off x="566928" y="1060704"/>
            <a:ext cx="859536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50">
                <a:solidFill>
                  <a:srgbClr val="6F665C"/>
                </a:solidFill>
                <a:latin typeface="Aptos" panose="02110004020202020204"/>
              </a:rPr>
              <a:t>Plotty соединяет сообщество фанфиков и AI-помощника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73672A8-9F12-42FA-76E7-CC5B6B1DA448}"/>
              </a:ext>
            </a:extLst>
          </p:cNvPr>
          <p:cNvSpPr/>
          <p:nvPr/>
        </p:nvSpPr>
        <p:spPr>
          <a:xfrm>
            <a:off x="530352" y="1572768"/>
            <a:ext cx="4187952" cy="411480"/>
          </a:xfrm>
          <a:prstGeom prst="roundRect">
            <a:avLst/>
          </a:prstGeom>
          <a:solidFill>
            <a:srgbClr val="253349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A485E-DB2D-7F85-C8FF-BE3E4D3E5647}"/>
              </a:ext>
            </a:extLst>
          </p:cNvPr>
          <p:cNvSpPr txBox="1"/>
          <p:nvPr/>
        </p:nvSpPr>
        <p:spPr>
          <a:xfrm>
            <a:off x="585216" y="1673352"/>
            <a:ext cx="4078224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50" b="1">
                <a:solidFill>
                  <a:srgbClr val="FFFFFF"/>
                </a:solidFill>
                <a:latin typeface="Aptos" panose="02110004020202020204"/>
              </a:rPr>
              <a:t>Возможность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09926D2-F624-68CC-C79C-7C33AA8D8377}"/>
              </a:ext>
            </a:extLst>
          </p:cNvPr>
          <p:cNvSpPr/>
          <p:nvPr/>
        </p:nvSpPr>
        <p:spPr>
          <a:xfrm>
            <a:off x="4718304" y="1572768"/>
            <a:ext cx="2331720" cy="411480"/>
          </a:xfrm>
          <a:prstGeom prst="roundRect">
            <a:avLst/>
          </a:prstGeom>
          <a:solidFill>
            <a:srgbClr val="253349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BA8793-AAC2-E4B0-8D98-DA1BFB1CC7A2}"/>
              </a:ext>
            </a:extLst>
          </p:cNvPr>
          <p:cNvSpPr txBox="1"/>
          <p:nvPr/>
        </p:nvSpPr>
        <p:spPr>
          <a:xfrm>
            <a:off x="4773168" y="1673352"/>
            <a:ext cx="2221992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850" b="1">
                <a:solidFill>
                  <a:srgbClr val="FFFFFF"/>
                </a:solidFill>
                <a:latin typeface="Aptos" panose="02110004020202020204"/>
              </a:rPr>
              <a:t>Фикбук / </a:t>
            </a:r>
            <a:r>
              <a:rPr lang="en-US" sz="850" b="1">
                <a:solidFill>
                  <a:srgbClr val="FFFFFF"/>
                </a:solidFill>
                <a:latin typeface="Aptos" panose="02110004020202020204"/>
              </a:rPr>
              <a:t>AO3 / Wattpad</a:t>
            </a:r>
            <a:endParaRPr lang="ru-RU" sz="850" b="1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222029D3-AACA-38DE-26B2-D94256E21A9C}"/>
              </a:ext>
            </a:extLst>
          </p:cNvPr>
          <p:cNvSpPr/>
          <p:nvPr/>
        </p:nvSpPr>
        <p:spPr>
          <a:xfrm>
            <a:off x="7050024" y="1572768"/>
            <a:ext cx="2057400" cy="411480"/>
          </a:xfrm>
          <a:prstGeom prst="roundRect">
            <a:avLst/>
          </a:prstGeom>
          <a:solidFill>
            <a:srgbClr val="253349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514D8-FC9A-F247-7142-BD515633485F}"/>
              </a:ext>
            </a:extLst>
          </p:cNvPr>
          <p:cNvSpPr txBox="1"/>
          <p:nvPr/>
        </p:nvSpPr>
        <p:spPr>
          <a:xfrm>
            <a:off x="7104888" y="1673352"/>
            <a:ext cx="1947672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 panose="02110004020202020204"/>
              </a:rPr>
              <a:t>ChatGPT / Claude</a:t>
            </a:r>
            <a:endParaRPr lang="ru-RU" sz="850" b="1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92B60EF-0A24-5DBB-BBFB-622A141662BF}"/>
              </a:ext>
            </a:extLst>
          </p:cNvPr>
          <p:cNvSpPr/>
          <p:nvPr/>
        </p:nvSpPr>
        <p:spPr>
          <a:xfrm>
            <a:off x="9107424" y="1572768"/>
            <a:ext cx="1645920" cy="411480"/>
          </a:xfrm>
          <a:prstGeom prst="roundRect">
            <a:avLst/>
          </a:prstGeom>
          <a:solidFill>
            <a:srgbClr val="BC5F3D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84DF90-C609-B691-B301-5DF652C6B12C}"/>
              </a:ext>
            </a:extLst>
          </p:cNvPr>
          <p:cNvSpPr txBox="1"/>
          <p:nvPr/>
        </p:nvSpPr>
        <p:spPr>
          <a:xfrm>
            <a:off x="9162288" y="1673352"/>
            <a:ext cx="1536192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 panose="02110004020202020204"/>
              </a:rPr>
              <a:t>Plotty</a:t>
            </a:r>
            <a:endParaRPr lang="ru-RU" sz="850" b="1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CC108C1-6FC3-7CB9-113C-C6991CD56185}"/>
              </a:ext>
            </a:extLst>
          </p:cNvPr>
          <p:cNvSpPr/>
          <p:nvPr/>
        </p:nvSpPr>
        <p:spPr>
          <a:xfrm>
            <a:off x="530352" y="1984248"/>
            <a:ext cx="4187952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6F4F2B-409A-7F8B-0EC4-676331284232}"/>
              </a:ext>
            </a:extLst>
          </p:cNvPr>
          <p:cNvSpPr txBox="1"/>
          <p:nvPr/>
        </p:nvSpPr>
        <p:spPr>
          <a:xfrm>
            <a:off x="585216" y="2084832"/>
            <a:ext cx="407822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20">
                <a:solidFill>
                  <a:srgbClr val="1F1A16"/>
                </a:solidFill>
                <a:latin typeface="Aptos" panose="02110004020202020204"/>
              </a:rPr>
              <a:t>Сообщество авторов и читателей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6E2F876-EB0A-6AA1-E15F-9DAC054D3C49}"/>
              </a:ext>
            </a:extLst>
          </p:cNvPr>
          <p:cNvSpPr/>
          <p:nvPr/>
        </p:nvSpPr>
        <p:spPr>
          <a:xfrm>
            <a:off x="4718304" y="1984248"/>
            <a:ext cx="233172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9560C5-B1D6-E306-4559-DD7BCC40D618}"/>
              </a:ext>
            </a:extLst>
          </p:cNvPr>
          <p:cNvSpPr txBox="1"/>
          <p:nvPr/>
        </p:nvSpPr>
        <p:spPr>
          <a:xfrm>
            <a:off x="4773168" y="2084832"/>
            <a:ext cx="22219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36513F"/>
                </a:solidFill>
                <a:latin typeface="Aptos" panose="02110004020202020204"/>
              </a:rPr>
              <a:t>+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F504BB27-BC6A-53A4-ED34-A1D9D2AECB71}"/>
              </a:ext>
            </a:extLst>
          </p:cNvPr>
          <p:cNvSpPr/>
          <p:nvPr/>
        </p:nvSpPr>
        <p:spPr>
          <a:xfrm>
            <a:off x="7050024" y="1984248"/>
            <a:ext cx="205740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803EB7-AB49-DD88-5CD2-C8D652809213}"/>
              </a:ext>
            </a:extLst>
          </p:cNvPr>
          <p:cNvSpPr txBox="1"/>
          <p:nvPr/>
        </p:nvSpPr>
        <p:spPr>
          <a:xfrm>
            <a:off x="7104888" y="2084832"/>
            <a:ext cx="194767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6F665C"/>
                </a:solidFill>
                <a:latin typeface="Aptos" panose="02110004020202020204"/>
              </a:rPr>
              <a:t>-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8C635169-4308-AAAF-D55E-DAEF1A3C4655}"/>
              </a:ext>
            </a:extLst>
          </p:cNvPr>
          <p:cNvSpPr/>
          <p:nvPr/>
        </p:nvSpPr>
        <p:spPr>
          <a:xfrm>
            <a:off x="9107424" y="1984248"/>
            <a:ext cx="1645920" cy="411480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322D6F-9E6B-C441-C643-22535743F833}"/>
              </a:ext>
            </a:extLst>
          </p:cNvPr>
          <p:cNvSpPr txBox="1"/>
          <p:nvPr/>
        </p:nvSpPr>
        <p:spPr>
          <a:xfrm>
            <a:off x="9162288" y="2084832"/>
            <a:ext cx="15361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36513F"/>
                </a:solidFill>
                <a:latin typeface="Aptos" panose="02110004020202020204"/>
              </a:rPr>
              <a:t>+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1DA5659-E0D5-DAB1-E9C4-DC82191BEBF5}"/>
              </a:ext>
            </a:extLst>
          </p:cNvPr>
          <p:cNvSpPr/>
          <p:nvPr/>
        </p:nvSpPr>
        <p:spPr>
          <a:xfrm>
            <a:off x="530352" y="2395728"/>
            <a:ext cx="4187952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3F0E4C-259B-83F2-E103-5BE921BCE7F2}"/>
              </a:ext>
            </a:extLst>
          </p:cNvPr>
          <p:cNvSpPr txBox="1"/>
          <p:nvPr/>
        </p:nvSpPr>
        <p:spPr>
          <a:xfrm>
            <a:off x="585216" y="2496312"/>
            <a:ext cx="407822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20">
                <a:solidFill>
                  <a:srgbClr val="1F1A16"/>
                </a:solidFill>
                <a:latin typeface="Aptos" panose="02110004020202020204"/>
              </a:rPr>
              <a:t>Каталог по фандомам и тегам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800D3D7B-51CC-4258-3150-203B5BF15711}"/>
              </a:ext>
            </a:extLst>
          </p:cNvPr>
          <p:cNvSpPr/>
          <p:nvPr/>
        </p:nvSpPr>
        <p:spPr>
          <a:xfrm>
            <a:off x="4718304" y="2395728"/>
            <a:ext cx="233172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2E2E7C-3BC1-BBE0-A72B-A1DE2CA8FDDE}"/>
              </a:ext>
            </a:extLst>
          </p:cNvPr>
          <p:cNvSpPr txBox="1"/>
          <p:nvPr/>
        </p:nvSpPr>
        <p:spPr>
          <a:xfrm>
            <a:off x="4773168" y="2496312"/>
            <a:ext cx="22219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36513F"/>
                </a:solidFill>
                <a:latin typeface="Aptos" panose="02110004020202020204"/>
              </a:rPr>
              <a:t>+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39A4008C-0DB2-2AD8-861E-2A8E1B7FB500}"/>
              </a:ext>
            </a:extLst>
          </p:cNvPr>
          <p:cNvSpPr/>
          <p:nvPr/>
        </p:nvSpPr>
        <p:spPr>
          <a:xfrm>
            <a:off x="7050024" y="2395728"/>
            <a:ext cx="205740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A5A2E8-0252-8E7B-4BD5-5B76C6AA2292}"/>
              </a:ext>
            </a:extLst>
          </p:cNvPr>
          <p:cNvSpPr txBox="1"/>
          <p:nvPr/>
        </p:nvSpPr>
        <p:spPr>
          <a:xfrm>
            <a:off x="7104888" y="2496312"/>
            <a:ext cx="194767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6F665C"/>
                </a:solidFill>
                <a:latin typeface="Aptos" panose="02110004020202020204"/>
              </a:rPr>
              <a:t>-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4B98DDE-30AF-6FFA-423F-7742650B4954}"/>
              </a:ext>
            </a:extLst>
          </p:cNvPr>
          <p:cNvSpPr/>
          <p:nvPr/>
        </p:nvSpPr>
        <p:spPr>
          <a:xfrm>
            <a:off x="9107424" y="2395728"/>
            <a:ext cx="1645920" cy="411480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C76440-2214-B0B9-1E12-0BFDD7768CA4}"/>
              </a:ext>
            </a:extLst>
          </p:cNvPr>
          <p:cNvSpPr txBox="1"/>
          <p:nvPr/>
        </p:nvSpPr>
        <p:spPr>
          <a:xfrm>
            <a:off x="9162288" y="2496312"/>
            <a:ext cx="15361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36513F"/>
                </a:solidFill>
                <a:latin typeface="Aptos" panose="02110004020202020204"/>
              </a:rPr>
              <a:t>+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EDCEF23E-D1BA-FF5E-B3A5-1FF6D7E8299C}"/>
              </a:ext>
            </a:extLst>
          </p:cNvPr>
          <p:cNvSpPr/>
          <p:nvPr/>
        </p:nvSpPr>
        <p:spPr>
          <a:xfrm>
            <a:off x="530352" y="2807208"/>
            <a:ext cx="4187952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EA2E63-4C7A-794F-BB9E-8844F1201A91}"/>
              </a:ext>
            </a:extLst>
          </p:cNvPr>
          <p:cNvSpPr txBox="1"/>
          <p:nvPr/>
        </p:nvSpPr>
        <p:spPr>
          <a:xfrm>
            <a:off x="585216" y="2907792"/>
            <a:ext cx="407822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20">
                <a:solidFill>
                  <a:srgbClr val="1F1A16"/>
                </a:solidFill>
                <a:latin typeface="Aptos" panose="02110004020202020204"/>
              </a:rPr>
              <a:t>Главы, комментарии, лайки, полка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DD2BAF89-EF10-A706-389A-3EBCE108AB0A}"/>
              </a:ext>
            </a:extLst>
          </p:cNvPr>
          <p:cNvSpPr/>
          <p:nvPr/>
        </p:nvSpPr>
        <p:spPr>
          <a:xfrm>
            <a:off x="4718304" y="2807208"/>
            <a:ext cx="233172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FE7F34-0F6D-861F-6C1A-9113825D3A69}"/>
              </a:ext>
            </a:extLst>
          </p:cNvPr>
          <p:cNvSpPr txBox="1"/>
          <p:nvPr/>
        </p:nvSpPr>
        <p:spPr>
          <a:xfrm>
            <a:off x="4773168" y="2907792"/>
            <a:ext cx="22219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36513F"/>
                </a:solidFill>
                <a:latin typeface="Aptos" panose="02110004020202020204"/>
              </a:rPr>
              <a:t>+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E7B795A1-6ED0-DAD5-F179-3F3269E5FBDE}"/>
              </a:ext>
            </a:extLst>
          </p:cNvPr>
          <p:cNvSpPr/>
          <p:nvPr/>
        </p:nvSpPr>
        <p:spPr>
          <a:xfrm>
            <a:off x="7050024" y="2807208"/>
            <a:ext cx="205740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359915-005B-E237-0FDF-FF9BE569F962}"/>
              </a:ext>
            </a:extLst>
          </p:cNvPr>
          <p:cNvSpPr txBox="1"/>
          <p:nvPr/>
        </p:nvSpPr>
        <p:spPr>
          <a:xfrm>
            <a:off x="7104888" y="2907792"/>
            <a:ext cx="194767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6F665C"/>
                </a:solidFill>
                <a:latin typeface="Aptos" panose="02110004020202020204"/>
              </a:rPr>
              <a:t>-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7387F78C-BC70-646F-5758-7A473CC01217}"/>
              </a:ext>
            </a:extLst>
          </p:cNvPr>
          <p:cNvSpPr/>
          <p:nvPr/>
        </p:nvSpPr>
        <p:spPr>
          <a:xfrm>
            <a:off x="9107424" y="2807208"/>
            <a:ext cx="1645920" cy="411480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F9AF0D-8688-DA82-E24F-F1A22302FEBB}"/>
              </a:ext>
            </a:extLst>
          </p:cNvPr>
          <p:cNvSpPr txBox="1"/>
          <p:nvPr/>
        </p:nvSpPr>
        <p:spPr>
          <a:xfrm>
            <a:off x="9162288" y="2907792"/>
            <a:ext cx="15361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36513F"/>
                </a:solidFill>
                <a:latin typeface="Aptos" panose="02110004020202020204"/>
              </a:rPr>
              <a:t>+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44F01B95-7D28-0664-C2C4-8E8866C57154}"/>
              </a:ext>
            </a:extLst>
          </p:cNvPr>
          <p:cNvSpPr/>
          <p:nvPr/>
        </p:nvSpPr>
        <p:spPr>
          <a:xfrm>
            <a:off x="530352" y="3218688"/>
            <a:ext cx="4187952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A82E63-7C60-08E4-ACFC-B9A4F7713992}"/>
              </a:ext>
            </a:extLst>
          </p:cNvPr>
          <p:cNvSpPr txBox="1"/>
          <p:nvPr/>
        </p:nvSpPr>
        <p:spPr>
          <a:xfrm>
            <a:off x="585216" y="3319272"/>
            <a:ext cx="407822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20">
                <a:solidFill>
                  <a:srgbClr val="1F1A16"/>
                </a:solidFill>
                <a:latin typeface="Aptos" panose="02110004020202020204"/>
              </a:rPr>
              <a:t>Редактор и публикация истории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10B833E5-E551-60BA-8487-4434DBD5B363}"/>
              </a:ext>
            </a:extLst>
          </p:cNvPr>
          <p:cNvSpPr/>
          <p:nvPr/>
        </p:nvSpPr>
        <p:spPr>
          <a:xfrm>
            <a:off x="4718304" y="3218688"/>
            <a:ext cx="233172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FE2439-CD43-E473-6066-0C64B0FCE079}"/>
              </a:ext>
            </a:extLst>
          </p:cNvPr>
          <p:cNvSpPr txBox="1"/>
          <p:nvPr/>
        </p:nvSpPr>
        <p:spPr>
          <a:xfrm>
            <a:off x="4773168" y="3319272"/>
            <a:ext cx="22219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36513F"/>
                </a:solidFill>
                <a:latin typeface="Aptos" panose="02110004020202020204"/>
              </a:rPr>
              <a:t>+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EF72A20F-7761-7D44-387E-B98372E996DB}"/>
              </a:ext>
            </a:extLst>
          </p:cNvPr>
          <p:cNvSpPr/>
          <p:nvPr/>
        </p:nvSpPr>
        <p:spPr>
          <a:xfrm>
            <a:off x="7050024" y="3218688"/>
            <a:ext cx="205740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E43A12-3171-42D2-049B-63D123C8FAB2}"/>
              </a:ext>
            </a:extLst>
          </p:cNvPr>
          <p:cNvSpPr txBox="1"/>
          <p:nvPr/>
        </p:nvSpPr>
        <p:spPr>
          <a:xfrm>
            <a:off x="7104888" y="3319272"/>
            <a:ext cx="194767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C8953A"/>
                </a:solidFill>
                <a:latin typeface="Aptos" panose="02110004020202020204"/>
              </a:rPr>
              <a:t>±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41505629-CB19-FD43-5F69-65C678D5AC56}"/>
              </a:ext>
            </a:extLst>
          </p:cNvPr>
          <p:cNvSpPr/>
          <p:nvPr/>
        </p:nvSpPr>
        <p:spPr>
          <a:xfrm>
            <a:off x="9107424" y="3218688"/>
            <a:ext cx="1645920" cy="411480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AA59F9-E342-F861-F765-9FB2DE27985E}"/>
              </a:ext>
            </a:extLst>
          </p:cNvPr>
          <p:cNvSpPr txBox="1"/>
          <p:nvPr/>
        </p:nvSpPr>
        <p:spPr>
          <a:xfrm>
            <a:off x="9162288" y="3319272"/>
            <a:ext cx="15361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36513F"/>
                </a:solidFill>
                <a:latin typeface="Aptos" panose="02110004020202020204"/>
              </a:rPr>
              <a:t>+</a:t>
            </a: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F21B2F10-C7C4-075D-2169-C05C1731DB69}"/>
              </a:ext>
            </a:extLst>
          </p:cNvPr>
          <p:cNvSpPr/>
          <p:nvPr/>
        </p:nvSpPr>
        <p:spPr>
          <a:xfrm>
            <a:off x="530352" y="3630168"/>
            <a:ext cx="4187952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EAFD30-DFCF-8766-9ECA-75AFD3883753}"/>
              </a:ext>
            </a:extLst>
          </p:cNvPr>
          <p:cNvSpPr txBox="1"/>
          <p:nvPr/>
        </p:nvSpPr>
        <p:spPr>
          <a:xfrm>
            <a:off x="585216" y="3730752"/>
            <a:ext cx="407822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20">
                <a:solidFill>
                  <a:srgbClr val="1F1A16"/>
                </a:solidFill>
                <a:latin typeface="Aptos" panose="02110004020202020204"/>
              </a:rPr>
              <a:t>Орфография и улучшение текста</a:t>
            </a: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8F9C6B9D-1CC0-DC98-E0B6-F645195BB1FD}"/>
              </a:ext>
            </a:extLst>
          </p:cNvPr>
          <p:cNvSpPr/>
          <p:nvPr/>
        </p:nvSpPr>
        <p:spPr>
          <a:xfrm>
            <a:off x="4718304" y="3630168"/>
            <a:ext cx="233172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92E50D-CEAD-3499-7160-AE23D204A5D7}"/>
              </a:ext>
            </a:extLst>
          </p:cNvPr>
          <p:cNvSpPr txBox="1"/>
          <p:nvPr/>
        </p:nvSpPr>
        <p:spPr>
          <a:xfrm>
            <a:off x="4773168" y="3730752"/>
            <a:ext cx="22219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C8953A"/>
                </a:solidFill>
                <a:latin typeface="Aptos" panose="02110004020202020204"/>
              </a:rPr>
              <a:t>±</a:t>
            </a: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7C91546D-EAF1-FCD5-24B1-9C9C0C0B4CC6}"/>
              </a:ext>
            </a:extLst>
          </p:cNvPr>
          <p:cNvSpPr/>
          <p:nvPr/>
        </p:nvSpPr>
        <p:spPr>
          <a:xfrm>
            <a:off x="7050024" y="3630168"/>
            <a:ext cx="205740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4DDD9B-397C-56B0-9B5C-5BE48ECD3B87}"/>
              </a:ext>
            </a:extLst>
          </p:cNvPr>
          <p:cNvSpPr txBox="1"/>
          <p:nvPr/>
        </p:nvSpPr>
        <p:spPr>
          <a:xfrm>
            <a:off x="7104888" y="3730752"/>
            <a:ext cx="194767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36513F"/>
                </a:solidFill>
                <a:latin typeface="Aptos" panose="02110004020202020204"/>
              </a:rPr>
              <a:t>+</a:t>
            </a:r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BB9800B2-8C77-EB88-92D1-851E2C4A5BA6}"/>
              </a:ext>
            </a:extLst>
          </p:cNvPr>
          <p:cNvSpPr/>
          <p:nvPr/>
        </p:nvSpPr>
        <p:spPr>
          <a:xfrm>
            <a:off x="9107424" y="3630168"/>
            <a:ext cx="1645920" cy="411480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644C5C-2B58-2335-0CB9-2B06E9367019}"/>
              </a:ext>
            </a:extLst>
          </p:cNvPr>
          <p:cNvSpPr txBox="1"/>
          <p:nvPr/>
        </p:nvSpPr>
        <p:spPr>
          <a:xfrm>
            <a:off x="9162288" y="3730752"/>
            <a:ext cx="15361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36513F"/>
                </a:solidFill>
                <a:latin typeface="Aptos" panose="02110004020202020204"/>
              </a:rPr>
              <a:t>+</a:t>
            </a:r>
          </a:p>
        </p:txBody>
      </p: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43CECF18-9727-A2E8-A72E-B311E317AE49}"/>
              </a:ext>
            </a:extLst>
          </p:cNvPr>
          <p:cNvSpPr/>
          <p:nvPr/>
        </p:nvSpPr>
        <p:spPr>
          <a:xfrm>
            <a:off x="530352" y="4041648"/>
            <a:ext cx="4187952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D23E75-71A6-93A5-2505-811785FD9503}"/>
              </a:ext>
            </a:extLst>
          </p:cNvPr>
          <p:cNvSpPr txBox="1"/>
          <p:nvPr/>
        </p:nvSpPr>
        <p:spPr>
          <a:xfrm>
            <a:off x="585216" y="4142232"/>
            <a:ext cx="407822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20">
                <a:solidFill>
                  <a:srgbClr val="1F1A16"/>
                </a:solidFill>
                <a:latin typeface="Aptos" panose="02110004020202020204"/>
              </a:rPr>
              <a:t>Проверка логики повествования</a:t>
            </a:r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9CDA21C1-D518-A9E5-6B33-79F718B5F4A5}"/>
              </a:ext>
            </a:extLst>
          </p:cNvPr>
          <p:cNvSpPr/>
          <p:nvPr/>
        </p:nvSpPr>
        <p:spPr>
          <a:xfrm>
            <a:off x="4718304" y="4041648"/>
            <a:ext cx="233172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1F397E-68E4-7F8C-C87B-0119B78B8A75}"/>
              </a:ext>
            </a:extLst>
          </p:cNvPr>
          <p:cNvSpPr txBox="1"/>
          <p:nvPr/>
        </p:nvSpPr>
        <p:spPr>
          <a:xfrm>
            <a:off x="4773168" y="4142232"/>
            <a:ext cx="22219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6F665C"/>
                </a:solidFill>
                <a:latin typeface="Aptos" panose="02110004020202020204"/>
              </a:rPr>
              <a:t>-</a:t>
            </a:r>
          </a:p>
        </p:txBody>
      </p: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4DBA8C41-0BF3-F1E1-61AA-BC1A2D6DB787}"/>
              </a:ext>
            </a:extLst>
          </p:cNvPr>
          <p:cNvSpPr/>
          <p:nvPr/>
        </p:nvSpPr>
        <p:spPr>
          <a:xfrm>
            <a:off x="7050024" y="4041648"/>
            <a:ext cx="205740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D5F678-BBBA-5691-BBB2-753087EDEAF4}"/>
              </a:ext>
            </a:extLst>
          </p:cNvPr>
          <p:cNvSpPr txBox="1"/>
          <p:nvPr/>
        </p:nvSpPr>
        <p:spPr>
          <a:xfrm>
            <a:off x="7104888" y="4142232"/>
            <a:ext cx="194767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C8953A"/>
                </a:solidFill>
                <a:latin typeface="Aptos" panose="02110004020202020204"/>
              </a:rPr>
              <a:t>±</a:t>
            </a:r>
          </a:p>
        </p:txBody>
      </p:sp>
      <p:sp>
        <p:nvSpPr>
          <p:cNvPr id="61" name="Прямоугольник: скругленные углы 60">
            <a:extLst>
              <a:ext uri="{FF2B5EF4-FFF2-40B4-BE49-F238E27FC236}">
                <a16:creationId xmlns:a16="http://schemas.microsoft.com/office/drawing/2014/main" id="{320084EA-AC27-F875-845A-FF9A970C84D2}"/>
              </a:ext>
            </a:extLst>
          </p:cNvPr>
          <p:cNvSpPr/>
          <p:nvPr/>
        </p:nvSpPr>
        <p:spPr>
          <a:xfrm>
            <a:off x="9107424" y="4041648"/>
            <a:ext cx="1645920" cy="411480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ED58E48-7ADB-00C3-1835-5D87781CE325}"/>
              </a:ext>
            </a:extLst>
          </p:cNvPr>
          <p:cNvSpPr txBox="1"/>
          <p:nvPr/>
        </p:nvSpPr>
        <p:spPr>
          <a:xfrm>
            <a:off x="9162288" y="4142232"/>
            <a:ext cx="15361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36513F"/>
                </a:solidFill>
                <a:latin typeface="Aptos" panose="02110004020202020204"/>
              </a:rPr>
              <a:t>+</a:t>
            </a:r>
          </a:p>
        </p:txBody>
      </p:sp>
      <p:sp>
        <p:nvSpPr>
          <p:cNvPr id="63" name="Прямоугольник: скругленные углы 62">
            <a:extLst>
              <a:ext uri="{FF2B5EF4-FFF2-40B4-BE49-F238E27FC236}">
                <a16:creationId xmlns:a16="http://schemas.microsoft.com/office/drawing/2014/main" id="{0D88D550-EB4B-4162-209D-7AA1CB8CB74E}"/>
              </a:ext>
            </a:extLst>
          </p:cNvPr>
          <p:cNvSpPr/>
          <p:nvPr/>
        </p:nvSpPr>
        <p:spPr>
          <a:xfrm>
            <a:off x="530352" y="4453128"/>
            <a:ext cx="4187952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B7EB0A-F5D1-BB12-3DBA-13D8C4B5C87D}"/>
              </a:ext>
            </a:extLst>
          </p:cNvPr>
          <p:cNvSpPr txBox="1"/>
          <p:nvPr/>
        </p:nvSpPr>
        <p:spPr>
          <a:xfrm>
            <a:off x="585216" y="4553712"/>
            <a:ext cx="407822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20">
                <a:solidFill>
                  <a:srgbClr val="1F1A16"/>
                </a:solidFill>
                <a:latin typeface="Aptos" panose="02110004020202020204"/>
              </a:rPr>
              <a:t>Проверка канона, </a:t>
            </a:r>
            <a:r>
              <a:rPr lang="en-US" sz="820">
                <a:solidFill>
                  <a:srgbClr val="1F1A16"/>
                </a:solidFill>
                <a:latin typeface="Aptos" panose="02110004020202020204"/>
              </a:rPr>
              <a:t>OOC, </a:t>
            </a:r>
            <a:r>
              <a:rPr lang="ru-RU" sz="820">
                <a:solidFill>
                  <a:srgbClr val="1F1A16"/>
                </a:solidFill>
                <a:latin typeface="Aptos" panose="02110004020202020204"/>
              </a:rPr>
              <a:t>лора</a:t>
            </a:r>
          </a:p>
        </p:txBody>
      </p:sp>
      <p:sp>
        <p:nvSpPr>
          <p:cNvPr id="65" name="Прямоугольник: скругленные углы 64">
            <a:extLst>
              <a:ext uri="{FF2B5EF4-FFF2-40B4-BE49-F238E27FC236}">
                <a16:creationId xmlns:a16="http://schemas.microsoft.com/office/drawing/2014/main" id="{1E066EAD-62A1-E197-8418-D89DB69809A5}"/>
              </a:ext>
            </a:extLst>
          </p:cNvPr>
          <p:cNvSpPr/>
          <p:nvPr/>
        </p:nvSpPr>
        <p:spPr>
          <a:xfrm>
            <a:off x="4718304" y="4453128"/>
            <a:ext cx="233172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709F4A-5B4A-A27A-5A2B-8A9EF1F5144F}"/>
              </a:ext>
            </a:extLst>
          </p:cNvPr>
          <p:cNvSpPr txBox="1"/>
          <p:nvPr/>
        </p:nvSpPr>
        <p:spPr>
          <a:xfrm>
            <a:off x="4773168" y="4553712"/>
            <a:ext cx="22219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6F665C"/>
                </a:solidFill>
                <a:latin typeface="Aptos" panose="02110004020202020204"/>
              </a:rPr>
              <a:t>-</a:t>
            </a:r>
          </a:p>
        </p:txBody>
      </p:sp>
      <p:sp>
        <p:nvSpPr>
          <p:cNvPr id="67" name="Прямоугольник: скругленные углы 66">
            <a:extLst>
              <a:ext uri="{FF2B5EF4-FFF2-40B4-BE49-F238E27FC236}">
                <a16:creationId xmlns:a16="http://schemas.microsoft.com/office/drawing/2014/main" id="{7DBD38DA-2C46-BDBA-1FDF-47E0FB0FA307}"/>
              </a:ext>
            </a:extLst>
          </p:cNvPr>
          <p:cNvSpPr/>
          <p:nvPr/>
        </p:nvSpPr>
        <p:spPr>
          <a:xfrm>
            <a:off x="7050024" y="4453128"/>
            <a:ext cx="205740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D6FFFAC-F4B4-5E32-4B5B-9A2F412F0560}"/>
              </a:ext>
            </a:extLst>
          </p:cNvPr>
          <p:cNvSpPr txBox="1"/>
          <p:nvPr/>
        </p:nvSpPr>
        <p:spPr>
          <a:xfrm>
            <a:off x="7104888" y="4553712"/>
            <a:ext cx="194767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C8953A"/>
                </a:solidFill>
                <a:latin typeface="Aptos" panose="02110004020202020204"/>
              </a:rPr>
              <a:t>±</a:t>
            </a:r>
          </a:p>
        </p:txBody>
      </p: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0A08CF9C-383F-1EFB-41C8-0555D6549B2F}"/>
              </a:ext>
            </a:extLst>
          </p:cNvPr>
          <p:cNvSpPr/>
          <p:nvPr/>
        </p:nvSpPr>
        <p:spPr>
          <a:xfrm>
            <a:off x="9107424" y="4453128"/>
            <a:ext cx="1645920" cy="411480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EB0F8E-9418-4123-AA48-50688007B958}"/>
              </a:ext>
            </a:extLst>
          </p:cNvPr>
          <p:cNvSpPr txBox="1"/>
          <p:nvPr/>
        </p:nvSpPr>
        <p:spPr>
          <a:xfrm>
            <a:off x="9162288" y="4553712"/>
            <a:ext cx="15361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36513F"/>
                </a:solidFill>
                <a:latin typeface="Aptos" panose="02110004020202020204"/>
              </a:rPr>
              <a:t>+</a:t>
            </a:r>
          </a:p>
        </p:txBody>
      </p:sp>
      <p:sp>
        <p:nvSpPr>
          <p:cNvPr id="71" name="Прямоугольник: скругленные углы 70">
            <a:extLst>
              <a:ext uri="{FF2B5EF4-FFF2-40B4-BE49-F238E27FC236}">
                <a16:creationId xmlns:a16="http://schemas.microsoft.com/office/drawing/2014/main" id="{D8354CD2-4432-5876-7228-1392822F4ECB}"/>
              </a:ext>
            </a:extLst>
          </p:cNvPr>
          <p:cNvSpPr/>
          <p:nvPr/>
        </p:nvSpPr>
        <p:spPr>
          <a:xfrm>
            <a:off x="530352" y="4864608"/>
            <a:ext cx="4187952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C4A889-97F1-5615-7091-564610A7A1D4}"/>
              </a:ext>
            </a:extLst>
          </p:cNvPr>
          <p:cNvSpPr txBox="1"/>
          <p:nvPr/>
        </p:nvSpPr>
        <p:spPr>
          <a:xfrm>
            <a:off x="585216" y="4965192"/>
            <a:ext cx="407822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20">
                <a:solidFill>
                  <a:srgbClr val="1F1A16"/>
                </a:solidFill>
                <a:latin typeface="Aptos" panose="02110004020202020204"/>
              </a:rPr>
              <a:t>Справочник по состоянию персонажей</a:t>
            </a:r>
          </a:p>
        </p:txBody>
      </p:sp>
      <p:sp>
        <p:nvSpPr>
          <p:cNvPr id="73" name="Прямоугольник: скругленные углы 72">
            <a:extLst>
              <a:ext uri="{FF2B5EF4-FFF2-40B4-BE49-F238E27FC236}">
                <a16:creationId xmlns:a16="http://schemas.microsoft.com/office/drawing/2014/main" id="{52EF5696-F75A-62FA-F2A6-DBDCA995A6CB}"/>
              </a:ext>
            </a:extLst>
          </p:cNvPr>
          <p:cNvSpPr/>
          <p:nvPr/>
        </p:nvSpPr>
        <p:spPr>
          <a:xfrm>
            <a:off x="4718304" y="4864608"/>
            <a:ext cx="233172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9A32980-097B-D969-6F3B-BD51103173C2}"/>
              </a:ext>
            </a:extLst>
          </p:cNvPr>
          <p:cNvSpPr txBox="1"/>
          <p:nvPr/>
        </p:nvSpPr>
        <p:spPr>
          <a:xfrm>
            <a:off x="4773168" y="4965192"/>
            <a:ext cx="22219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6F665C"/>
                </a:solidFill>
                <a:latin typeface="Aptos" panose="02110004020202020204"/>
              </a:rPr>
              <a:t>-</a:t>
            </a:r>
          </a:p>
        </p:txBody>
      </p:sp>
      <p:sp>
        <p:nvSpPr>
          <p:cNvPr id="75" name="Прямоугольник: скругленные углы 74">
            <a:extLst>
              <a:ext uri="{FF2B5EF4-FFF2-40B4-BE49-F238E27FC236}">
                <a16:creationId xmlns:a16="http://schemas.microsoft.com/office/drawing/2014/main" id="{FFED466F-99A4-FE62-2F05-FD9757AA8BC2}"/>
              </a:ext>
            </a:extLst>
          </p:cNvPr>
          <p:cNvSpPr/>
          <p:nvPr/>
        </p:nvSpPr>
        <p:spPr>
          <a:xfrm>
            <a:off x="7050024" y="4864608"/>
            <a:ext cx="205740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88AF0B3-44B8-DF36-9947-E06F8184F723}"/>
              </a:ext>
            </a:extLst>
          </p:cNvPr>
          <p:cNvSpPr txBox="1"/>
          <p:nvPr/>
        </p:nvSpPr>
        <p:spPr>
          <a:xfrm>
            <a:off x="7104888" y="4965192"/>
            <a:ext cx="194767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C8953A"/>
                </a:solidFill>
                <a:latin typeface="Aptos" panose="02110004020202020204"/>
              </a:rPr>
              <a:t>±</a:t>
            </a:r>
          </a:p>
        </p:txBody>
      </p:sp>
      <p:sp>
        <p:nvSpPr>
          <p:cNvPr id="77" name="Прямоугольник: скругленные углы 76">
            <a:extLst>
              <a:ext uri="{FF2B5EF4-FFF2-40B4-BE49-F238E27FC236}">
                <a16:creationId xmlns:a16="http://schemas.microsoft.com/office/drawing/2014/main" id="{AF19DF47-59F8-905D-080D-98593D5178CA}"/>
              </a:ext>
            </a:extLst>
          </p:cNvPr>
          <p:cNvSpPr/>
          <p:nvPr/>
        </p:nvSpPr>
        <p:spPr>
          <a:xfrm>
            <a:off x="9107424" y="4864608"/>
            <a:ext cx="1645920" cy="411480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9768D15-9B32-A3CA-96BD-DAA285AEC662}"/>
              </a:ext>
            </a:extLst>
          </p:cNvPr>
          <p:cNvSpPr txBox="1"/>
          <p:nvPr/>
        </p:nvSpPr>
        <p:spPr>
          <a:xfrm>
            <a:off x="9162288" y="4965192"/>
            <a:ext cx="15361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36513F"/>
                </a:solidFill>
                <a:latin typeface="Aptos" panose="02110004020202020204"/>
              </a:rPr>
              <a:t>+</a:t>
            </a:r>
          </a:p>
        </p:txBody>
      </p:sp>
      <p:sp>
        <p:nvSpPr>
          <p:cNvPr id="79" name="Прямоугольник: скругленные углы 78">
            <a:extLst>
              <a:ext uri="{FF2B5EF4-FFF2-40B4-BE49-F238E27FC236}">
                <a16:creationId xmlns:a16="http://schemas.microsoft.com/office/drawing/2014/main" id="{DE48CC23-91D0-6C31-EC0A-18F20FB6C667}"/>
              </a:ext>
            </a:extLst>
          </p:cNvPr>
          <p:cNvSpPr/>
          <p:nvPr/>
        </p:nvSpPr>
        <p:spPr>
          <a:xfrm>
            <a:off x="530352" y="5276088"/>
            <a:ext cx="4187952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44CE629-D691-A30D-A6F8-D70959D470C8}"/>
              </a:ext>
            </a:extLst>
          </p:cNvPr>
          <p:cNvSpPr txBox="1"/>
          <p:nvPr/>
        </p:nvSpPr>
        <p:spPr>
          <a:xfrm>
            <a:off x="585216" y="5376672"/>
            <a:ext cx="407822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1F1A16"/>
                </a:solidFill>
                <a:latin typeface="Aptos" panose="02110004020202020204"/>
              </a:rPr>
              <a:t>AI-</a:t>
            </a:r>
            <a:r>
              <a:rPr lang="ru-RU" sz="820">
                <a:solidFill>
                  <a:srgbClr val="1F1A16"/>
                </a:solidFill>
                <a:latin typeface="Aptos" panose="02110004020202020204"/>
              </a:rPr>
              <a:t>инструменты внутри авторского процесса</a:t>
            </a:r>
          </a:p>
        </p:txBody>
      </p:sp>
      <p:sp>
        <p:nvSpPr>
          <p:cNvPr id="81" name="Прямоугольник: скругленные углы 80">
            <a:extLst>
              <a:ext uri="{FF2B5EF4-FFF2-40B4-BE49-F238E27FC236}">
                <a16:creationId xmlns:a16="http://schemas.microsoft.com/office/drawing/2014/main" id="{6F36EFF6-89A3-6F05-F6AC-920A9F0A817F}"/>
              </a:ext>
            </a:extLst>
          </p:cNvPr>
          <p:cNvSpPr/>
          <p:nvPr/>
        </p:nvSpPr>
        <p:spPr>
          <a:xfrm>
            <a:off x="4718304" y="5276088"/>
            <a:ext cx="233172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B72AEEE-54F9-8DFC-6F4D-C64DE6A39D68}"/>
              </a:ext>
            </a:extLst>
          </p:cNvPr>
          <p:cNvSpPr txBox="1"/>
          <p:nvPr/>
        </p:nvSpPr>
        <p:spPr>
          <a:xfrm>
            <a:off x="4773168" y="5376672"/>
            <a:ext cx="22219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6F665C"/>
                </a:solidFill>
                <a:latin typeface="Aptos" panose="02110004020202020204"/>
              </a:rPr>
              <a:t>-</a:t>
            </a:r>
          </a:p>
        </p:txBody>
      </p:sp>
      <p:sp>
        <p:nvSpPr>
          <p:cNvPr id="83" name="Прямоугольник: скругленные углы 82">
            <a:extLst>
              <a:ext uri="{FF2B5EF4-FFF2-40B4-BE49-F238E27FC236}">
                <a16:creationId xmlns:a16="http://schemas.microsoft.com/office/drawing/2014/main" id="{EFFE3313-A849-316D-EF1A-2E8BFA770210}"/>
              </a:ext>
            </a:extLst>
          </p:cNvPr>
          <p:cNvSpPr/>
          <p:nvPr/>
        </p:nvSpPr>
        <p:spPr>
          <a:xfrm>
            <a:off x="7050024" y="5276088"/>
            <a:ext cx="2057400" cy="411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4D65AFC-56F0-C212-8AFF-7F8D0496489F}"/>
              </a:ext>
            </a:extLst>
          </p:cNvPr>
          <p:cNvSpPr txBox="1"/>
          <p:nvPr/>
        </p:nvSpPr>
        <p:spPr>
          <a:xfrm>
            <a:off x="7104888" y="5376672"/>
            <a:ext cx="194767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6F665C"/>
                </a:solidFill>
                <a:latin typeface="Aptos" panose="02110004020202020204"/>
              </a:rPr>
              <a:t>-</a:t>
            </a:r>
          </a:p>
        </p:txBody>
      </p:sp>
      <p:sp>
        <p:nvSpPr>
          <p:cNvPr id="85" name="Прямоугольник: скругленные углы 84">
            <a:extLst>
              <a:ext uri="{FF2B5EF4-FFF2-40B4-BE49-F238E27FC236}">
                <a16:creationId xmlns:a16="http://schemas.microsoft.com/office/drawing/2014/main" id="{29AB8641-51A9-A721-D6BF-A7C7E8BA7DC2}"/>
              </a:ext>
            </a:extLst>
          </p:cNvPr>
          <p:cNvSpPr/>
          <p:nvPr/>
        </p:nvSpPr>
        <p:spPr>
          <a:xfrm>
            <a:off x="9107424" y="5276088"/>
            <a:ext cx="1645920" cy="411480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A92A411-80DB-6F19-A8BD-1D62A96572B4}"/>
              </a:ext>
            </a:extLst>
          </p:cNvPr>
          <p:cNvSpPr txBox="1"/>
          <p:nvPr/>
        </p:nvSpPr>
        <p:spPr>
          <a:xfrm>
            <a:off x="9162288" y="5376672"/>
            <a:ext cx="153619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sz="1500" b="1">
                <a:solidFill>
                  <a:srgbClr val="36513F"/>
                </a:solidFill>
                <a:latin typeface="Aptos" panose="02110004020202020204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716000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382C1F6-ECFA-7E04-2588-7579025BF0D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796AD8-E0A5-6FC8-DCC7-937145B48810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5F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2CD02F-23A6-33FC-FC14-B0457A9C4386}"/>
              </a:ext>
            </a:extLst>
          </p:cNvPr>
          <p:cNvSpPr txBox="1"/>
          <p:nvPr/>
        </p:nvSpPr>
        <p:spPr>
          <a:xfrm>
            <a:off x="10195560" y="6519672"/>
            <a:ext cx="146304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750" b="1">
                <a:solidFill>
                  <a:srgbClr val="6F665C"/>
                </a:solidFill>
                <a:latin typeface="Aptos" panose="02110004020202020204"/>
              </a:rPr>
              <a:t>Plotty · 11</a:t>
            </a:r>
            <a:endParaRPr lang="ru-RU" sz="750" b="1">
              <a:solidFill>
                <a:srgbClr val="6F665C"/>
              </a:solidFill>
              <a:latin typeface="Aptos" panose="02110004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15A5A2-D936-F18A-6D3B-A9CD7109C0A1}"/>
              </a:ext>
            </a:extLst>
          </p:cNvPr>
          <p:cNvSpPr txBox="1"/>
          <p:nvPr/>
        </p:nvSpPr>
        <p:spPr>
          <a:xfrm>
            <a:off x="566928" y="384048"/>
            <a:ext cx="905256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1F1A16"/>
                </a:solidFill>
                <a:latin typeface="Aptos" panose="02110004020202020204"/>
              </a:rPr>
              <a:t>Кредиты и модель использования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B759DF-433F-4398-74C9-0D1B36486FEA}"/>
              </a:ext>
            </a:extLst>
          </p:cNvPr>
          <p:cNvSpPr txBox="1"/>
          <p:nvPr/>
        </p:nvSpPr>
        <p:spPr>
          <a:xfrm>
            <a:off x="566928" y="1060704"/>
            <a:ext cx="859536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50">
                <a:solidFill>
                  <a:srgbClr val="6F665C"/>
                </a:solidFill>
                <a:latin typeface="Aptos" panose="02110004020202020204"/>
              </a:rPr>
              <a:t>AI-</a:t>
            </a:r>
            <a:r>
              <a:rPr lang="ru-RU" sz="1350">
                <a:solidFill>
                  <a:srgbClr val="6F665C"/>
                </a:solidFill>
                <a:latin typeface="Aptos" panose="02110004020202020204"/>
              </a:rPr>
              <a:t>функции запускаются за кредиты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EFD2235-3375-7F20-EEB9-500B76D56032}"/>
              </a:ext>
            </a:extLst>
          </p:cNvPr>
          <p:cNvSpPr/>
          <p:nvPr/>
        </p:nvSpPr>
        <p:spPr>
          <a:xfrm>
            <a:off x="841248" y="1783080"/>
            <a:ext cx="3931920" cy="31089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9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A5F12-9E65-9093-B40D-322730C7550D}"/>
              </a:ext>
            </a:extLst>
          </p:cNvPr>
          <p:cNvSpPr txBox="1"/>
          <p:nvPr/>
        </p:nvSpPr>
        <p:spPr>
          <a:xfrm>
            <a:off x="1143000" y="20574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 b="1">
                <a:solidFill>
                  <a:srgbClr val="6F665C"/>
                </a:solidFill>
                <a:latin typeface="Aptos" panose="02110004020202020204"/>
              </a:rPr>
              <a:t>Баланс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F0CE5-E3B9-135F-A476-0A3B091BF587}"/>
              </a:ext>
            </a:extLst>
          </p:cNvPr>
          <p:cNvSpPr txBox="1"/>
          <p:nvPr/>
        </p:nvSpPr>
        <p:spPr>
          <a:xfrm>
            <a:off x="1143000" y="2514600"/>
            <a:ext cx="237744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700" b="1">
                <a:solidFill>
                  <a:srgbClr val="BC5F3D"/>
                </a:solidFill>
                <a:latin typeface="Aptos" panose="02110004020202020204"/>
              </a:rPr>
              <a:t>50 кредитов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FE505D-88D3-8596-7BB7-65F3ADB347BA}"/>
              </a:ext>
            </a:extLst>
          </p:cNvPr>
          <p:cNvSpPr txBox="1"/>
          <p:nvPr/>
        </p:nvSpPr>
        <p:spPr>
          <a:xfrm>
            <a:off x="1143000" y="3246120"/>
            <a:ext cx="2926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400">
                <a:solidFill>
                  <a:srgbClr val="1F1A16"/>
                </a:solidFill>
                <a:latin typeface="Aptos" panose="02110004020202020204"/>
              </a:rPr>
              <a:t>Пользователь видит стоимость действий и историю списаний.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F7FEE9AF-E3DB-13F9-F030-047A2F46BE70}"/>
              </a:ext>
            </a:extLst>
          </p:cNvPr>
          <p:cNvSpPr/>
          <p:nvPr/>
        </p:nvSpPr>
        <p:spPr>
          <a:xfrm>
            <a:off x="5623560" y="2057400"/>
            <a:ext cx="2057400" cy="868680"/>
          </a:xfrm>
          <a:prstGeom prst="roundRect">
            <a:avLst/>
          </a:prstGeom>
          <a:solidFill>
            <a:srgbClr val="F1D4CA"/>
          </a:solidFill>
          <a:ln w="9525">
            <a:solidFill>
              <a:srgbClr val="BC5F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B35047-7638-F78B-3C4E-6AC2CB9618C0}"/>
              </a:ext>
            </a:extLst>
          </p:cNvPr>
          <p:cNvSpPr txBox="1"/>
          <p:nvPr/>
        </p:nvSpPr>
        <p:spPr>
          <a:xfrm>
            <a:off x="5824728" y="2258568"/>
            <a:ext cx="114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 b="1">
                <a:solidFill>
                  <a:srgbClr val="1F1A16"/>
                </a:solidFill>
                <a:latin typeface="Aptos" panose="02110004020202020204"/>
              </a:rPr>
              <a:t>Орфография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C70A93-9F31-EE56-D530-8CD1847EC8DC}"/>
              </a:ext>
            </a:extLst>
          </p:cNvPr>
          <p:cNvSpPr txBox="1"/>
          <p:nvPr/>
        </p:nvSpPr>
        <p:spPr>
          <a:xfrm>
            <a:off x="6858000" y="2221992"/>
            <a:ext cx="56692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1500" b="1">
                <a:solidFill>
                  <a:srgbClr val="BC5F3D"/>
                </a:solidFill>
                <a:latin typeface="Aptos" panose="02110004020202020204"/>
              </a:rPr>
              <a:t>1 кр.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6DB9E8F-C018-96E5-AE45-96E3B32F2696}"/>
              </a:ext>
            </a:extLst>
          </p:cNvPr>
          <p:cNvSpPr/>
          <p:nvPr/>
        </p:nvSpPr>
        <p:spPr>
          <a:xfrm>
            <a:off x="8138160" y="2057400"/>
            <a:ext cx="2057400" cy="868680"/>
          </a:xfrm>
          <a:prstGeom prst="roundRect">
            <a:avLst/>
          </a:prstGeom>
          <a:solidFill>
            <a:srgbClr val="DDE8D7"/>
          </a:solidFill>
          <a:ln w="9525">
            <a:solidFill>
              <a:srgbClr val="365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8D6FB9-B580-48B4-B08D-4BA1D3644B0E}"/>
              </a:ext>
            </a:extLst>
          </p:cNvPr>
          <p:cNvSpPr txBox="1"/>
          <p:nvPr/>
        </p:nvSpPr>
        <p:spPr>
          <a:xfrm>
            <a:off x="8339328" y="2258568"/>
            <a:ext cx="114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 b="1">
                <a:solidFill>
                  <a:srgbClr val="1F1A16"/>
                </a:solidFill>
                <a:latin typeface="Aptos" panose="02110004020202020204"/>
              </a:rPr>
              <a:t>Логика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50FD82-D783-2E1F-3081-524A4C3A4E1E}"/>
              </a:ext>
            </a:extLst>
          </p:cNvPr>
          <p:cNvSpPr txBox="1"/>
          <p:nvPr/>
        </p:nvSpPr>
        <p:spPr>
          <a:xfrm>
            <a:off x="9372600" y="2221992"/>
            <a:ext cx="56692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1500" b="1">
                <a:solidFill>
                  <a:srgbClr val="36513F"/>
                </a:solidFill>
                <a:latin typeface="Aptos" panose="02110004020202020204"/>
              </a:rPr>
              <a:t>2 кр.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84C1605F-0A27-9E7A-4EC2-EC5548810335}"/>
              </a:ext>
            </a:extLst>
          </p:cNvPr>
          <p:cNvSpPr/>
          <p:nvPr/>
        </p:nvSpPr>
        <p:spPr>
          <a:xfrm>
            <a:off x="5623560" y="3291840"/>
            <a:ext cx="2057400" cy="868680"/>
          </a:xfrm>
          <a:prstGeom prst="roundRect">
            <a:avLst/>
          </a:prstGeom>
          <a:solidFill>
            <a:srgbClr val="DCE5EF"/>
          </a:solidFill>
          <a:ln w="9525">
            <a:solidFill>
              <a:srgbClr val="253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089B75-46A5-0803-B18C-0207C7810876}"/>
              </a:ext>
            </a:extLst>
          </p:cNvPr>
          <p:cNvSpPr txBox="1"/>
          <p:nvPr/>
        </p:nvSpPr>
        <p:spPr>
          <a:xfrm>
            <a:off x="5824728" y="3493008"/>
            <a:ext cx="114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 b="1">
                <a:solidFill>
                  <a:srgbClr val="1F1A16"/>
                </a:solidFill>
                <a:latin typeface="Aptos" panose="02110004020202020204"/>
              </a:rPr>
              <a:t>Канон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845FE2-0D82-4FBA-6E5A-16DE3D2C2DE5}"/>
              </a:ext>
            </a:extLst>
          </p:cNvPr>
          <p:cNvSpPr txBox="1"/>
          <p:nvPr/>
        </p:nvSpPr>
        <p:spPr>
          <a:xfrm>
            <a:off x="6858000" y="3456432"/>
            <a:ext cx="56692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1500" b="1">
                <a:solidFill>
                  <a:srgbClr val="253349"/>
                </a:solidFill>
                <a:latin typeface="Aptos" panose="02110004020202020204"/>
              </a:rPr>
              <a:t>2 кр.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B143264-E367-82FC-6766-C62668DB443D}"/>
              </a:ext>
            </a:extLst>
          </p:cNvPr>
          <p:cNvSpPr/>
          <p:nvPr/>
        </p:nvSpPr>
        <p:spPr>
          <a:xfrm>
            <a:off x="8138160" y="3291840"/>
            <a:ext cx="2057400" cy="868680"/>
          </a:xfrm>
          <a:prstGeom prst="roundRect">
            <a:avLst/>
          </a:prstGeom>
          <a:solidFill>
            <a:srgbClr val="F4E6C9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0C7F08-8A04-CADD-9018-E6A45CCCDAC4}"/>
              </a:ext>
            </a:extLst>
          </p:cNvPr>
          <p:cNvSpPr txBox="1"/>
          <p:nvPr/>
        </p:nvSpPr>
        <p:spPr>
          <a:xfrm>
            <a:off x="8339328" y="3493008"/>
            <a:ext cx="114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000" b="1">
                <a:solidFill>
                  <a:srgbClr val="1F1A16"/>
                </a:solidFill>
                <a:latin typeface="Aptos" panose="02110004020202020204"/>
              </a:rPr>
              <a:t>Иллюстрация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CC7BC4-02B8-40F9-8487-5CBF32B1DC46}"/>
              </a:ext>
            </a:extLst>
          </p:cNvPr>
          <p:cNvSpPr txBox="1"/>
          <p:nvPr/>
        </p:nvSpPr>
        <p:spPr>
          <a:xfrm>
            <a:off x="9372600" y="3456432"/>
            <a:ext cx="56692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RU" sz="1500" b="1">
                <a:solidFill>
                  <a:srgbClr val="C8953A"/>
                </a:solidFill>
                <a:latin typeface="Aptos" panose="02110004020202020204"/>
              </a:rPr>
              <a:t>3 кр.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983353-2FFB-B62E-1F96-EAFF58A5A67C}"/>
              </a:ext>
            </a:extLst>
          </p:cNvPr>
          <p:cNvSpPr txBox="1"/>
          <p:nvPr/>
        </p:nvSpPr>
        <p:spPr>
          <a:xfrm>
            <a:off x="5687568" y="4663440"/>
            <a:ext cx="48006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1F1A16"/>
                </a:solidFill>
                <a:latin typeface="Aptos" panose="02110004020202020204"/>
              </a:rPr>
              <a:t>Так обычное чтение остается платформенным опытом, а дорогие AI-запуски оплачиваются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2633608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4E4610A-6458-BD3C-71FE-CE6D046488B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3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F8EAD8-3242-DD07-DE55-E0ABB9B21384}"/>
              </a:ext>
            </a:extLst>
          </p:cNvPr>
          <p:cNvSpPr txBox="1"/>
          <p:nvPr/>
        </p:nvSpPr>
        <p:spPr>
          <a:xfrm>
            <a:off x="10195560" y="6519672"/>
            <a:ext cx="146304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750" b="1">
                <a:solidFill>
                  <a:srgbClr val="D9D2C4"/>
                </a:solidFill>
                <a:latin typeface="Aptos" panose="02110004020202020204"/>
              </a:rPr>
              <a:t>Plotty · 12</a:t>
            </a:r>
            <a:endParaRPr lang="ru-RU" sz="750" b="1">
              <a:solidFill>
                <a:srgbClr val="D9D2C4"/>
              </a:solidFill>
              <a:latin typeface="Aptos" panose="021100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39A44-1D17-DE77-BDAF-6DB3BE880BCD}"/>
              </a:ext>
            </a:extLst>
          </p:cNvPr>
          <p:cNvSpPr txBox="1"/>
          <p:nvPr/>
        </p:nvSpPr>
        <p:spPr>
          <a:xfrm>
            <a:off x="786384" y="960120"/>
            <a:ext cx="950976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600" b="1">
                <a:solidFill>
                  <a:srgbClr val="FFFFFF"/>
                </a:solidFill>
                <a:latin typeface="Aptos" panose="02110004020202020204"/>
              </a:rPr>
              <a:t>Plotty помогает писать фанфики внимательнее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BEAF8E-4EA2-4D0F-EE43-2FAAF5D4DA97}"/>
              </a:ext>
            </a:extLst>
          </p:cNvPr>
          <p:cNvSpPr txBox="1"/>
          <p:nvPr/>
        </p:nvSpPr>
        <p:spPr>
          <a:xfrm>
            <a:off x="822960" y="1901952"/>
            <a:ext cx="80467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>
                <a:solidFill>
                  <a:srgbClr val="F7F2EA"/>
                </a:solidFill>
                <a:latin typeface="Aptos" panose="02110004020202020204"/>
              </a:rPr>
              <a:t>Не «AI пишет за автора», а «AI помогает автору писать лучше».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9CE276B-1441-4034-E9A0-FC6582384C04}"/>
              </a:ext>
            </a:extLst>
          </p:cNvPr>
          <p:cNvSpPr/>
          <p:nvPr/>
        </p:nvSpPr>
        <p:spPr>
          <a:xfrm>
            <a:off x="841248" y="3703320"/>
            <a:ext cx="3063240" cy="1298448"/>
          </a:xfrm>
          <a:prstGeom prst="roundRect">
            <a:avLst/>
          </a:prstGeom>
          <a:solidFill>
            <a:srgbClr val="FFF3E7"/>
          </a:solidFill>
          <a:ln w="9525">
            <a:solidFill>
              <a:srgbClr val="C89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33474-FA6A-5F84-E110-BB53BD47922F}"/>
              </a:ext>
            </a:extLst>
          </p:cNvPr>
          <p:cNvSpPr txBox="1"/>
          <p:nvPr/>
        </p:nvSpPr>
        <p:spPr>
          <a:xfrm>
            <a:off x="1060704" y="3968496"/>
            <a:ext cx="2514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400" b="1">
                <a:solidFill>
                  <a:srgbClr val="C8953A"/>
                </a:solidFill>
                <a:latin typeface="Aptos" panose="02110004020202020204"/>
              </a:rPr>
              <a:t>Творческий контроль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98E123-6278-9A95-9DEB-3CE7707CC30E}"/>
              </a:ext>
            </a:extLst>
          </p:cNvPr>
          <p:cNvSpPr txBox="1"/>
          <p:nvPr/>
        </p:nvSpPr>
        <p:spPr>
          <a:xfrm>
            <a:off x="1060704" y="4389120"/>
            <a:ext cx="2514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50">
                <a:solidFill>
                  <a:srgbClr val="1F1A16"/>
                </a:solidFill>
                <a:latin typeface="Aptos" panose="02110004020202020204"/>
              </a:rPr>
              <a:t>автор решает, что исправлять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BC9C0FD-9219-74DE-F6A1-403657C77E1D}"/>
              </a:ext>
            </a:extLst>
          </p:cNvPr>
          <p:cNvSpPr/>
          <p:nvPr/>
        </p:nvSpPr>
        <p:spPr>
          <a:xfrm>
            <a:off x="4544568" y="3703320"/>
            <a:ext cx="3063240" cy="1298448"/>
          </a:xfrm>
          <a:prstGeom prst="roundRect">
            <a:avLst/>
          </a:prstGeom>
          <a:solidFill>
            <a:srgbClr val="E8F0E1"/>
          </a:solidFill>
          <a:ln w="9525">
            <a:solidFill>
              <a:srgbClr val="3651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28EA55-6729-40AD-E40C-04F4C5325A87}"/>
              </a:ext>
            </a:extLst>
          </p:cNvPr>
          <p:cNvSpPr txBox="1"/>
          <p:nvPr/>
        </p:nvSpPr>
        <p:spPr>
          <a:xfrm>
            <a:off x="4764024" y="3968496"/>
            <a:ext cx="2514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400" b="1">
                <a:solidFill>
                  <a:srgbClr val="36513F"/>
                </a:solidFill>
                <a:latin typeface="Aptos" panose="02110004020202020204"/>
              </a:rPr>
              <a:t>Фанфик-контекст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78C580-1A00-FA18-A60E-74139701432C}"/>
              </a:ext>
            </a:extLst>
          </p:cNvPr>
          <p:cNvSpPr txBox="1"/>
          <p:nvPr/>
        </p:nvSpPr>
        <p:spPr>
          <a:xfrm>
            <a:off x="4764024" y="4389120"/>
            <a:ext cx="2514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50">
                <a:solidFill>
                  <a:srgbClr val="1F1A16"/>
                </a:solidFill>
                <a:latin typeface="Aptos" panose="02110004020202020204"/>
              </a:rPr>
              <a:t>канон, лор, OOC и состояние персонажей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7959BDF-A046-FB57-5294-563A7D659D04}"/>
              </a:ext>
            </a:extLst>
          </p:cNvPr>
          <p:cNvSpPr/>
          <p:nvPr/>
        </p:nvSpPr>
        <p:spPr>
          <a:xfrm>
            <a:off x="8247888" y="3703320"/>
            <a:ext cx="3063240" cy="1298448"/>
          </a:xfrm>
          <a:prstGeom prst="roundRect">
            <a:avLst/>
          </a:prstGeom>
          <a:solidFill>
            <a:srgbClr val="E5EAF2"/>
          </a:solidFill>
          <a:ln w="9525">
            <a:solidFill>
              <a:srgbClr val="253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1A404C-C5F4-EB14-0D1D-E07552F89AAC}"/>
              </a:ext>
            </a:extLst>
          </p:cNvPr>
          <p:cNvSpPr txBox="1"/>
          <p:nvPr/>
        </p:nvSpPr>
        <p:spPr>
          <a:xfrm>
            <a:off x="8467344" y="3968496"/>
            <a:ext cx="2514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400" b="1">
                <a:solidFill>
                  <a:srgbClr val="253349"/>
                </a:solidFill>
                <a:latin typeface="Aptos" panose="02110004020202020204"/>
              </a:rPr>
              <a:t>Сообщество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FB8BBD-321D-762F-1174-EC24A60630ED}"/>
              </a:ext>
            </a:extLst>
          </p:cNvPr>
          <p:cNvSpPr txBox="1"/>
          <p:nvPr/>
        </p:nvSpPr>
        <p:spPr>
          <a:xfrm>
            <a:off x="8467344" y="4389120"/>
            <a:ext cx="2514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50">
                <a:solidFill>
                  <a:srgbClr val="1F1A16"/>
                </a:solidFill>
                <a:latin typeface="Aptos" panose="02110004020202020204"/>
              </a:rPr>
              <a:t>читатели, комментарии, полки и профили</a:t>
            </a:r>
          </a:p>
        </p:txBody>
      </p:sp>
    </p:spTree>
    <p:extLst>
      <p:ext uri="{BB962C8B-B14F-4D97-AF65-F5344CB8AC3E}">
        <p14:creationId xmlns:p14="http://schemas.microsoft.com/office/powerpoint/2010/main" val="33464215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1294</Words>
  <Application>Microsoft Office PowerPoint</Application>
  <PresentationFormat>Произвольный</PresentationFormat>
  <Paragraphs>208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Ilya Matveev</dc:creator>
  <cp:lastModifiedBy>Ilya Matveev</cp:lastModifiedBy>
  <cp:revision>1</cp:revision>
  <dcterms:created xsi:type="dcterms:W3CDTF">2026-05-26T12:17:22Z</dcterms:created>
  <dcterms:modified xsi:type="dcterms:W3CDTF">2026-05-26T12:17:22Z</dcterms:modified>
</cp:coreProperties>
</file>